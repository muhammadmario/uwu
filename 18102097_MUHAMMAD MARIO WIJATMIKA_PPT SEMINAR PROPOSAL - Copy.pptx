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  <p:sldMasterId id="2147483707" r:id="rId2"/>
  </p:sldMasterIdLst>
  <p:notesMasterIdLst>
    <p:notesMasterId r:id="rId22"/>
  </p:notesMasterIdLst>
  <p:sldIdLst>
    <p:sldId id="256" r:id="rId3"/>
    <p:sldId id="259" r:id="rId4"/>
    <p:sldId id="260" r:id="rId5"/>
    <p:sldId id="261" r:id="rId6"/>
    <p:sldId id="355" r:id="rId7"/>
    <p:sldId id="356" r:id="rId8"/>
    <p:sldId id="362" r:id="rId9"/>
    <p:sldId id="357" r:id="rId10"/>
    <p:sldId id="358" r:id="rId11"/>
    <p:sldId id="363" r:id="rId12"/>
    <p:sldId id="328" r:id="rId13"/>
    <p:sldId id="263" r:id="rId14"/>
    <p:sldId id="329" r:id="rId15"/>
    <p:sldId id="298" r:id="rId16"/>
    <p:sldId id="359" r:id="rId17"/>
    <p:sldId id="330" r:id="rId18"/>
    <p:sldId id="360" r:id="rId19"/>
    <p:sldId id="361" r:id="rId20"/>
    <p:sldId id="327" r:id="rId21"/>
  </p:sldIdLst>
  <p:sldSz cx="9144000" cy="5143500" type="screen16x9"/>
  <p:notesSz cx="6858000" cy="9144000"/>
  <p:embeddedFontLst>
    <p:embeddedFont>
      <p:font typeface="Bebas Neue" panose="020B0604020202020204" charset="0"/>
      <p:regular r:id="rId23"/>
    </p:embeddedFont>
    <p:embeddedFont>
      <p:font typeface="Fira Sans Extra Condensed Medium" panose="020B0604020202020204" charset="0"/>
      <p:regular r:id="rId24"/>
      <p:bold r:id="rId25"/>
      <p:italic r:id="rId26"/>
      <p:boldItalic r:id="rId27"/>
    </p:embeddedFont>
    <p:embeddedFont>
      <p:font typeface="Inconsolata" pitchFamily="1" charset="0"/>
      <p:regular r:id="rId28"/>
      <p:bold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Proxima Nova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73BAE05-9421-4B93-A21F-A5679E66C67F}">
          <p14:sldIdLst>
            <p14:sldId id="256"/>
            <p14:sldId id="259"/>
            <p14:sldId id="260"/>
            <p14:sldId id="261"/>
            <p14:sldId id="355"/>
            <p14:sldId id="356"/>
            <p14:sldId id="362"/>
            <p14:sldId id="357"/>
            <p14:sldId id="358"/>
            <p14:sldId id="363"/>
            <p14:sldId id="328"/>
            <p14:sldId id="263"/>
            <p14:sldId id="329"/>
            <p14:sldId id="298"/>
            <p14:sldId id="359"/>
            <p14:sldId id="330"/>
            <p14:sldId id="360"/>
            <p14:sldId id="361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755F20-66C8-48CD-AA50-4437A046BB90}">
  <a:tblStyle styleId="{7E755F20-66C8-48CD-AA50-4437A046BB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88" autoAdjust="0"/>
  </p:normalViewPr>
  <p:slideViewPr>
    <p:cSldViewPr snapToGrid="0">
      <p:cViewPr varScale="1">
        <p:scale>
          <a:sx n="99" d="100"/>
          <a:sy n="99" d="100"/>
        </p:scale>
        <p:origin x="893" y="226"/>
      </p:cViewPr>
      <p:guideLst/>
    </p:cSldViewPr>
  </p:slideViewPr>
  <p:notesTextViewPr>
    <p:cViewPr>
      <p:scale>
        <a:sx n="1" d="1"/>
        <a:sy n="1" d="1"/>
      </p:scale>
      <p:origin x="0" y="-907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f2a442458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f2a4424586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Sebelumya</a:t>
            </a:r>
            <a:r>
              <a:rPr lang="en-US" dirty="0"/>
              <a:t> </a:t>
            </a:r>
            <a:r>
              <a:rPr lang="en-US" dirty="0" err="1"/>
              <a:t>terimakasih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pak</a:t>
            </a:r>
            <a:r>
              <a:rPr lang="en-US" dirty="0"/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Ariq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Cahya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Wardhana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S.Kom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.,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M.Kom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dosen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pembimbing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saya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ID" sz="1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pak</a:t>
            </a:r>
            <a:r>
              <a:rPr lang="en-ID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Muhammad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Azrino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Gustalika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S.Kom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.,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M.Tr.T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hadir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seminar pada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hari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Pada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kesempatan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saya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akan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mempresentasikan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proposal yang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berjudul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rancang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bangun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e-learning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rehabilitasi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napza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berbasis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website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1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metode</a:t>
            </a:r>
            <a:r>
              <a:rPr lang="en-ID" sz="11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prototype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f2a442458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f2a4424586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019cdf330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019cdf330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83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4390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548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438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019cdf330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d019cdf330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51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f2a442458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f2a4424586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oleh Evy </a:t>
            </a:r>
            <a:r>
              <a:rPr lang="en-ID" dirty="0" err="1"/>
              <a:t>Priyanti</a:t>
            </a:r>
            <a:r>
              <a:rPr lang="en-ID" dirty="0"/>
              <a:t>, </a:t>
            </a:r>
            <a:r>
              <a:rPr lang="en-ID" dirty="0" err="1"/>
              <a:t>Rahmad</a:t>
            </a:r>
            <a:r>
              <a:rPr lang="en-ID" dirty="0"/>
              <a:t> Budi </a:t>
            </a:r>
            <a:r>
              <a:rPr lang="en-ID" dirty="0" err="1"/>
              <a:t>Ansyah</a:t>
            </a:r>
            <a:r>
              <a:rPr lang="en-ID" dirty="0"/>
              <a:t>, </a:t>
            </a:r>
            <a:r>
              <a:rPr lang="en-ID" dirty="0" err="1"/>
              <a:t>Fachrul</a:t>
            </a:r>
            <a:r>
              <a:rPr lang="en-ID" dirty="0"/>
              <a:t> </a:t>
            </a:r>
            <a:r>
              <a:rPr lang="en-ID" dirty="0" err="1"/>
              <a:t>Ramadhani</a:t>
            </a:r>
            <a:r>
              <a:rPr lang="en-ID" dirty="0"/>
              <a:t>, dan </a:t>
            </a:r>
            <a:r>
              <a:rPr lang="en-ID" dirty="0" err="1"/>
              <a:t>Huzaiful</a:t>
            </a:r>
            <a:r>
              <a:rPr lang="en-ID" dirty="0"/>
              <a:t> </a:t>
            </a:r>
            <a:r>
              <a:rPr lang="en-ID" dirty="0" err="1"/>
              <a:t>Yaman</a:t>
            </a:r>
            <a:r>
              <a:rPr lang="en-ID" dirty="0"/>
              <a:t> .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e-learning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proses </a:t>
            </a:r>
            <a:r>
              <a:rPr lang="en-ID" dirty="0" err="1"/>
              <a:t>belajar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online,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pendamping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konvensional</a:t>
            </a:r>
            <a:r>
              <a:rPr lang="en-ID" dirty="0"/>
              <a:t>. Hasil </a:t>
            </a:r>
            <a:r>
              <a:rPr lang="en-ID" dirty="0" err="1"/>
              <a:t>dari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form admin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home, </a:t>
            </a:r>
            <a:r>
              <a:rPr lang="en-ID" dirty="0" err="1"/>
              <a:t>administrasi</a:t>
            </a:r>
            <a:r>
              <a:rPr lang="en-ID" dirty="0"/>
              <a:t>, </a:t>
            </a:r>
            <a:r>
              <a:rPr lang="en-ID" dirty="0" err="1"/>
              <a:t>pengajar</a:t>
            </a:r>
            <a:r>
              <a:rPr lang="en-ID" dirty="0"/>
              <a:t>, </a:t>
            </a:r>
            <a:r>
              <a:rPr lang="en-ID" dirty="0" err="1"/>
              <a:t>siswa</a:t>
            </a:r>
            <a:r>
              <a:rPr lang="en-ID" dirty="0"/>
              <a:t>, </a:t>
            </a:r>
            <a:r>
              <a:rPr lang="en-ID" dirty="0" err="1"/>
              <a:t>kuis</a:t>
            </a:r>
            <a:r>
              <a:rPr lang="en-ID" dirty="0"/>
              <a:t>, logout, dan </a:t>
            </a:r>
            <a:r>
              <a:rPr lang="en-ID" dirty="0" err="1"/>
              <a:t>sebagainya</a:t>
            </a:r>
            <a:r>
              <a:rPr lang="en-ID" dirty="0"/>
              <a:t>. Pada </a:t>
            </a:r>
            <a:r>
              <a:rPr lang="en-ID" dirty="0" err="1"/>
              <a:t>tampilan</a:t>
            </a:r>
            <a:r>
              <a:rPr lang="en-ID" dirty="0"/>
              <a:t> form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biodata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, </a:t>
            </a:r>
            <a:r>
              <a:rPr lang="en-ID" dirty="0" err="1"/>
              <a:t>lihat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, dan </a:t>
            </a:r>
            <a:r>
              <a:rPr lang="en-ID" dirty="0" err="1"/>
              <a:t>kuis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oleh Eka </a:t>
            </a:r>
            <a:r>
              <a:rPr lang="en-ID" dirty="0" err="1"/>
              <a:t>Wulansari</a:t>
            </a:r>
            <a:r>
              <a:rPr lang="en-ID" dirty="0"/>
              <a:t> </a:t>
            </a:r>
            <a:r>
              <a:rPr lang="en-ID" dirty="0" err="1"/>
              <a:t>Fridayanthie</a:t>
            </a:r>
            <a:r>
              <a:rPr lang="en-ID" dirty="0"/>
              <a:t>, </a:t>
            </a:r>
            <a:r>
              <a:rPr lang="en-ID" dirty="0" err="1"/>
              <a:t>Mochammad</a:t>
            </a:r>
            <a:r>
              <a:rPr lang="en-ID" dirty="0"/>
              <a:t> Abdul </a:t>
            </a:r>
            <a:r>
              <a:rPr lang="en-ID" dirty="0" err="1"/>
              <a:t>Azis</a:t>
            </a:r>
            <a:r>
              <a:rPr lang="en-ID" dirty="0"/>
              <a:t>, dan </a:t>
            </a:r>
            <a:r>
              <a:rPr lang="en-ID" dirty="0" err="1"/>
              <a:t>Aliffah</a:t>
            </a:r>
            <a:r>
              <a:rPr lang="en-ID" dirty="0"/>
              <a:t> </a:t>
            </a:r>
            <a:r>
              <a:rPr lang="en-ID" dirty="0" err="1"/>
              <a:t>Kusumaningrum</a:t>
            </a:r>
            <a:r>
              <a:rPr lang="en-ID" dirty="0"/>
              <a:t>. Pada website </a:t>
            </a:r>
            <a:r>
              <a:rPr lang="en-ID" dirty="0" err="1"/>
              <a:t>ini</a:t>
            </a:r>
            <a:r>
              <a:rPr lang="en-ID" dirty="0"/>
              <a:t> user </a:t>
            </a:r>
            <a:r>
              <a:rPr lang="en-ID" dirty="0" err="1"/>
              <a:t>dibagi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3 role </a:t>
            </a:r>
            <a:r>
              <a:rPr lang="en-ID" dirty="0" err="1"/>
              <a:t>yaitu</a:t>
            </a:r>
            <a:r>
              <a:rPr lang="en-ID" dirty="0"/>
              <a:t> admin, guru dan </a:t>
            </a:r>
            <a:r>
              <a:rPr lang="en-ID" dirty="0" err="1"/>
              <a:t>siswa</a:t>
            </a:r>
            <a:r>
              <a:rPr lang="en-ID" dirty="0"/>
              <a:t>. </a:t>
            </a:r>
            <a:r>
              <a:rPr lang="en-ID" dirty="0" err="1"/>
              <a:t>Manfaat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website e-learning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yang </a:t>
            </a:r>
            <a:r>
              <a:rPr lang="en-ID" dirty="0" err="1"/>
              <a:t>diberikan</a:t>
            </a:r>
            <a:r>
              <a:rPr lang="en-ID" dirty="0"/>
              <a:t> oleh guru </a:t>
            </a:r>
            <a:r>
              <a:rPr lang="en-ID" dirty="0" err="1"/>
              <a:t>kapan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dan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mengerjakan</a:t>
            </a:r>
            <a:r>
              <a:rPr lang="en-ID" dirty="0"/>
              <a:t> </a:t>
            </a:r>
            <a:r>
              <a:rPr lang="en-ID" dirty="0" err="1"/>
              <a:t>kuis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 err="1"/>
              <a:t>Dentik</a:t>
            </a:r>
            <a:r>
              <a:rPr lang="en-ID" dirty="0"/>
              <a:t> </a:t>
            </a:r>
            <a:r>
              <a:rPr lang="en-ID" dirty="0" err="1"/>
              <a:t>Karyaningsih</a:t>
            </a:r>
            <a:r>
              <a:rPr lang="en-ID" dirty="0"/>
              <a:t> dan </a:t>
            </a:r>
            <a:r>
              <a:rPr lang="en-ID" dirty="0" err="1"/>
              <a:t>Puji</a:t>
            </a:r>
            <a:r>
              <a:rPr lang="en-ID" dirty="0"/>
              <a:t> </a:t>
            </a:r>
            <a:r>
              <a:rPr lang="en-ID" dirty="0" err="1"/>
              <a:t>Siswanto</a:t>
            </a:r>
            <a:r>
              <a:rPr lang="en-ID" dirty="0"/>
              <a:t>. E-learning pronunciation </a:t>
            </a:r>
            <a:r>
              <a:rPr lang="en-ID" dirty="0" err="1"/>
              <a:t>dibuat</a:t>
            </a:r>
            <a:r>
              <a:rPr lang="en-ID" dirty="0"/>
              <a:t> agar </a:t>
            </a:r>
            <a:r>
              <a:rPr lang="en-ID" dirty="0" err="1"/>
              <a:t>perkuliahan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dimanapun</a:t>
            </a:r>
            <a:r>
              <a:rPr lang="en-ID" dirty="0"/>
              <a:t> dan </a:t>
            </a:r>
            <a:r>
              <a:rPr lang="en-ID" dirty="0" err="1"/>
              <a:t>kapanpun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dan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pembiasaan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,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,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peningkatan</a:t>
            </a:r>
            <a:r>
              <a:rPr lang="en-ID" dirty="0"/>
              <a:t> </a:t>
            </a:r>
            <a:r>
              <a:rPr lang="en-ID" dirty="0" err="1"/>
              <a:t>kememampuan</a:t>
            </a:r>
            <a:r>
              <a:rPr lang="en-ID" dirty="0"/>
              <a:t> pronunciation.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blackbox</a:t>
            </a:r>
            <a:r>
              <a:rPr lang="en-ID" dirty="0"/>
              <a:t> testing,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i-FI" dirty="0"/>
              <a:t>oleh Herfandi, Arman Diansyah, Eri Sasmita Susanto. </a:t>
            </a:r>
            <a:r>
              <a:rPr lang="en-ID" dirty="0"/>
              <a:t>Pada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website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soal</a:t>
            </a:r>
            <a:r>
              <a:rPr lang="en-ID" dirty="0"/>
              <a:t> </a:t>
            </a:r>
            <a:r>
              <a:rPr lang="en-ID" dirty="0" err="1"/>
              <a:t>ujian</a:t>
            </a:r>
            <a:r>
              <a:rPr lang="en-ID" dirty="0"/>
              <a:t>, </a:t>
            </a:r>
            <a:r>
              <a:rPr lang="en-ID" dirty="0" err="1"/>
              <a:t>menampilkan</a:t>
            </a:r>
            <a:r>
              <a:rPr lang="en-ID" dirty="0"/>
              <a:t> menu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ujian</a:t>
            </a:r>
            <a:r>
              <a:rPr lang="en-ID" dirty="0"/>
              <a:t>,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ujian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blackbox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oleh </a:t>
            </a:r>
            <a:r>
              <a:rPr lang="en-ID" dirty="0" err="1"/>
              <a:t>Sopandi</a:t>
            </a:r>
            <a:r>
              <a:rPr lang="en-ID" dirty="0"/>
              <a:t> </a:t>
            </a:r>
            <a:r>
              <a:rPr lang="en-ID" dirty="0" err="1"/>
              <a:t>Saputra</a:t>
            </a:r>
            <a:r>
              <a:rPr lang="en-ID" dirty="0"/>
              <a:t>, </a:t>
            </a:r>
            <a:r>
              <a:rPr lang="en-ID" dirty="0" err="1"/>
              <a:t>Fety</a:t>
            </a:r>
            <a:r>
              <a:rPr lang="en-ID" dirty="0"/>
              <a:t> Fatimah, dan </a:t>
            </a:r>
            <a:r>
              <a:rPr lang="en-ID" dirty="0" err="1"/>
              <a:t>Dewi</a:t>
            </a:r>
            <a:r>
              <a:rPr lang="en-ID" dirty="0"/>
              <a:t> </a:t>
            </a:r>
            <a:r>
              <a:rPr lang="en-ID" dirty="0" err="1"/>
              <a:t>Primasari</a:t>
            </a:r>
            <a:r>
              <a:rPr lang="en-ID"/>
              <a:t>. Fitur </a:t>
            </a:r>
            <a:r>
              <a:rPr lang="en-ID" dirty="0"/>
              <a:t>yang </a:t>
            </a:r>
            <a:r>
              <a:rPr lang="en-ID" dirty="0" err="1"/>
              <a:t>terdapat</a:t>
            </a:r>
            <a:r>
              <a:rPr lang="en-ID" dirty="0"/>
              <a:t> pada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admin dan guru </a:t>
            </a:r>
            <a:r>
              <a:rPr lang="en-ID" dirty="0" err="1"/>
              <a:t>dapat</a:t>
            </a:r>
            <a:r>
              <a:rPr lang="en-ID" dirty="0"/>
              <a:t> CRUD data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pelajaran</a:t>
            </a:r>
            <a:r>
              <a:rPr lang="en-ID" dirty="0"/>
              <a:t>, </a:t>
            </a:r>
            <a:r>
              <a:rPr lang="en-ID" dirty="0" err="1"/>
              <a:t>materi</a:t>
            </a:r>
            <a:r>
              <a:rPr lang="en-ID" dirty="0"/>
              <a:t>, </a:t>
            </a:r>
            <a:r>
              <a:rPr lang="en-ID" dirty="0" err="1"/>
              <a:t>soal</a:t>
            </a:r>
            <a:r>
              <a:rPr lang="en-ID" dirty="0"/>
              <a:t>, </a:t>
            </a:r>
            <a:r>
              <a:rPr lang="en-ID" dirty="0" err="1"/>
              <a:t>siswa</a:t>
            </a:r>
            <a:r>
              <a:rPr lang="en-ID" dirty="0"/>
              <a:t> dan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data test/</a:t>
            </a:r>
            <a:r>
              <a:rPr lang="en-ID" dirty="0" err="1"/>
              <a:t>soal</a:t>
            </a:r>
            <a:r>
              <a:rPr lang="en-ID" dirty="0"/>
              <a:t>.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meggunakan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PHP dan MySQL </a:t>
            </a:r>
            <a:r>
              <a:rPr lang="en-ID" dirty="0" err="1"/>
              <a:t>sebagai</a:t>
            </a:r>
            <a:r>
              <a:rPr lang="en-ID" dirty="0"/>
              <a:t> database. </a:t>
            </a:r>
            <a:r>
              <a:rPr lang="en-ID" dirty="0" err="1"/>
              <a:t>Pengujian</a:t>
            </a:r>
            <a:r>
              <a:rPr lang="en-ID" dirty="0"/>
              <a:t> website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blackbox</a:t>
            </a:r>
            <a:r>
              <a:rPr lang="en-ID" dirty="0"/>
              <a:t>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3617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019cdf330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019cdf330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734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f6c3cb44a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f6c3cb44a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Website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situs, yang </a:t>
            </a:r>
            <a:r>
              <a:rPr lang="en-ID" dirty="0" err="1"/>
              <a:t>terangkum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domain, </a:t>
            </a:r>
            <a:r>
              <a:rPr lang="en-ID" dirty="0" err="1"/>
              <a:t>berada</a:t>
            </a:r>
            <a:r>
              <a:rPr lang="en-ID" dirty="0"/>
              <a:t> pada World Wide Web (WWW) </a:t>
            </a:r>
            <a:r>
              <a:rPr lang="en-ID" dirty="0" err="1"/>
              <a:t>dalam</a:t>
            </a:r>
            <a:r>
              <a:rPr lang="en-ID" dirty="0"/>
              <a:t> internet yang </a:t>
            </a:r>
            <a:r>
              <a:rPr lang="en-ID" dirty="0" err="1"/>
              <a:t>berisi</a:t>
            </a:r>
            <a:r>
              <a:rPr lang="en-ID" dirty="0"/>
              <a:t> data, </a:t>
            </a:r>
            <a:r>
              <a:rPr lang="en-ID" dirty="0" err="1"/>
              <a:t>gambar</a:t>
            </a:r>
            <a:r>
              <a:rPr lang="en-ID" dirty="0"/>
              <a:t>, </a:t>
            </a:r>
            <a:r>
              <a:rPr lang="en-ID" dirty="0" err="1"/>
              <a:t>teks</a:t>
            </a:r>
            <a:r>
              <a:rPr lang="en-ID" dirty="0"/>
              <a:t>, </a:t>
            </a:r>
            <a:r>
              <a:rPr lang="en-ID" dirty="0" err="1"/>
              <a:t>suara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online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statis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dinamis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E-learning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yang </a:t>
            </a:r>
            <a:r>
              <a:rPr lang="en-ID" dirty="0" err="1"/>
              <a:t>menggunakan</a:t>
            </a:r>
            <a:r>
              <a:rPr lang="en-ID" dirty="0"/>
              <a:t> media </a:t>
            </a:r>
            <a:r>
              <a:rPr lang="en-ID" dirty="0" err="1"/>
              <a:t>elektronik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perantara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menyampaikan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.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e-learning sangat </a:t>
            </a:r>
            <a:r>
              <a:rPr lang="en-ID" dirty="0" err="1"/>
              <a:t>fleksibel</a:t>
            </a:r>
            <a:r>
              <a:rPr lang="en-ID" dirty="0"/>
              <a:t>,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kapanpun</a:t>
            </a:r>
            <a:r>
              <a:rPr lang="en-ID" dirty="0"/>
              <a:t> dan </a:t>
            </a:r>
            <a:r>
              <a:rPr lang="en-ID" dirty="0" err="1"/>
              <a:t>dimanapun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tatap</a:t>
            </a:r>
            <a:r>
              <a:rPr lang="en-ID" dirty="0"/>
              <a:t> </a:t>
            </a:r>
            <a:r>
              <a:rPr lang="en-ID" dirty="0" err="1"/>
              <a:t>muka</a:t>
            </a:r>
            <a:r>
              <a:rPr lang="en-ID" dirty="0"/>
              <a:t> pada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ruangan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 Laravel </a:t>
            </a:r>
            <a:r>
              <a:rPr lang="en-ID" dirty="0" err="1"/>
              <a:t>merupakan</a:t>
            </a:r>
            <a:r>
              <a:rPr lang="en-ID" dirty="0"/>
              <a:t> framework yang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PHP, Laravel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MVC (Model View Controller) dan </a:t>
            </a:r>
            <a:r>
              <a:rPr lang="en-ID" dirty="0" err="1"/>
              <a:t>dilengkapi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artisan </a:t>
            </a:r>
            <a:r>
              <a:rPr lang="en-ID" dirty="0" err="1"/>
              <a:t>yaitu</a:t>
            </a:r>
            <a:r>
              <a:rPr lang="en-ID" dirty="0"/>
              <a:t> command line tool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packaging bundle dan </a:t>
            </a:r>
            <a:r>
              <a:rPr lang="en-ID" dirty="0" err="1"/>
              <a:t>instalasi</a:t>
            </a:r>
            <a:r>
              <a:rPr lang="en-ID" dirty="0"/>
              <a:t> bundle.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MySQL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DBMS (Database Management System) yang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SQL (Structured Query Language)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dua</a:t>
            </a:r>
            <a:r>
              <a:rPr lang="en-ID" dirty="0"/>
              <a:t> </a:t>
            </a:r>
            <a:r>
              <a:rPr lang="en-ID" dirty="0" err="1"/>
              <a:t>dimensi</a:t>
            </a:r>
            <a:r>
              <a:rPr lang="en-ID" dirty="0"/>
              <a:t> </a:t>
            </a:r>
            <a:r>
              <a:rPr lang="en-ID" dirty="0" err="1"/>
              <a:t>yaitu</a:t>
            </a:r>
            <a:r>
              <a:rPr lang="en-ID" dirty="0"/>
              <a:t> baris dan </a:t>
            </a:r>
            <a:r>
              <a:rPr lang="en-ID" dirty="0" err="1"/>
              <a:t>kolom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Black Box Testing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yang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program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program yang </a:t>
            </a:r>
            <a:r>
              <a:rPr lang="en-ID" dirty="0" err="1"/>
              <a:t>digunakan</a:t>
            </a:r>
            <a:r>
              <a:rPr lang="en-ID" dirty="0"/>
              <a:t> agar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normal.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prototype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yang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mendemonstrasikan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.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berulangkali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fitur-fiturnya</a:t>
            </a:r>
            <a:r>
              <a:rPr lang="en-ID" dirty="0"/>
              <a:t>. Langkah-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Prototype </a:t>
            </a:r>
            <a:r>
              <a:rPr lang="en-ID" dirty="0" err="1"/>
              <a:t>adalah</a:t>
            </a:r>
            <a:r>
              <a:rPr lang="en-ID" dirty="0"/>
              <a:t>: </a:t>
            </a:r>
            <a:r>
              <a:rPr lang="en-ID" dirty="0" err="1"/>
              <a:t>Pengumpulan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,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protoype</a:t>
            </a:r>
            <a:r>
              <a:rPr lang="en-ID" dirty="0"/>
              <a:t>, </a:t>
            </a:r>
            <a:r>
              <a:rPr lang="en-ID" dirty="0" err="1"/>
              <a:t>Evaluasi</a:t>
            </a:r>
            <a:r>
              <a:rPr lang="en-ID" dirty="0"/>
              <a:t> prototype, </a:t>
            </a:r>
            <a:r>
              <a:rPr lang="en-ID" dirty="0" err="1"/>
              <a:t>Mengkodekan</a:t>
            </a:r>
            <a:r>
              <a:rPr lang="en-ID" dirty="0"/>
              <a:t> system, </a:t>
            </a:r>
            <a:r>
              <a:rPr lang="en-ID" dirty="0" err="1"/>
              <a:t>Menguji</a:t>
            </a:r>
            <a:r>
              <a:rPr lang="en-ID" dirty="0"/>
              <a:t> system, </a:t>
            </a:r>
            <a:r>
              <a:rPr lang="en-ID" dirty="0" err="1"/>
              <a:t>Evaluasi</a:t>
            </a:r>
            <a:r>
              <a:rPr lang="en-ID" dirty="0"/>
              <a:t> system, </a:t>
            </a:r>
            <a:r>
              <a:rPr lang="en-ID" dirty="0" err="1"/>
              <a:t>Menggunakan</a:t>
            </a:r>
            <a:r>
              <a:rPr lang="en-ID" dirty="0"/>
              <a:t> system.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019cdf330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019cdf330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421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f4f3cdd775_0_3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f4f3cdd775_0_3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019cdf330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019cdf330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119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f4f3cdd775_0_3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f4f3cdd775_0_3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147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019cdf330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019cdf330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499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f4f3cdd775_0_3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f4f3cdd775_0_3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pendahuluan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penentuan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pencarian</a:t>
            </a:r>
            <a:r>
              <a:rPr lang="en-ID" dirty="0"/>
              <a:t> dan </a:t>
            </a:r>
            <a:r>
              <a:rPr lang="en-ID" dirty="0" err="1"/>
              <a:t>pengkajian</a:t>
            </a:r>
            <a:r>
              <a:rPr lang="en-ID" dirty="0"/>
              <a:t> </a:t>
            </a:r>
            <a:r>
              <a:rPr lang="en-ID" dirty="0" err="1"/>
              <a:t>literatur</a:t>
            </a:r>
            <a:r>
              <a:rPr lang="en-ID" dirty="0"/>
              <a:t> yang </a:t>
            </a:r>
            <a:r>
              <a:rPr lang="en-ID" dirty="0" err="1"/>
              <a:t>berhubungan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e-learning </a:t>
            </a:r>
            <a:r>
              <a:rPr lang="en-ID" dirty="0" err="1"/>
              <a:t>berbasis</a:t>
            </a:r>
            <a:r>
              <a:rPr lang="en-ID" dirty="0"/>
              <a:t> website. </a:t>
            </a:r>
            <a:r>
              <a:rPr lang="en-ID" dirty="0" err="1"/>
              <a:t>Peneliti</a:t>
            </a:r>
            <a:r>
              <a:rPr lang="en-ID" dirty="0"/>
              <a:t> juga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literatur</a:t>
            </a:r>
            <a:r>
              <a:rPr lang="en-ID" dirty="0"/>
              <a:t>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pemanfaatan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media </a:t>
            </a:r>
            <a:r>
              <a:rPr lang="en-ID" dirty="0" err="1"/>
              <a:t>penyampaian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.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terdahulu</a:t>
            </a:r>
            <a:r>
              <a:rPr lang="en-ID" dirty="0"/>
              <a:t> yang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berkaitan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dijadikan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acuan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 err="1"/>
              <a:t>Pengumpulan</a:t>
            </a:r>
            <a:r>
              <a:rPr lang="en-ID" dirty="0"/>
              <a:t> data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data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diskusi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Penanggung</a:t>
            </a:r>
            <a:r>
              <a:rPr lang="en-ID" dirty="0"/>
              <a:t> Jawab </a:t>
            </a:r>
            <a:r>
              <a:rPr lang="en-ID" dirty="0" err="1"/>
              <a:t>Proyek</a:t>
            </a:r>
            <a:r>
              <a:rPr lang="en-ID" dirty="0"/>
              <a:t> Website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masukan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.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diskusi</a:t>
            </a:r>
            <a:r>
              <a:rPr lang="en-ID" dirty="0"/>
              <a:t> online </a:t>
            </a:r>
            <a:r>
              <a:rPr lang="en-ID" dirty="0" err="1"/>
              <a:t>menggunakan</a:t>
            </a:r>
            <a:r>
              <a:rPr lang="en-ID" dirty="0"/>
              <a:t> Google meet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Penanggung</a:t>
            </a:r>
            <a:r>
              <a:rPr lang="en-ID" dirty="0"/>
              <a:t> Jawab </a:t>
            </a:r>
            <a:r>
              <a:rPr lang="en-ID" dirty="0" err="1"/>
              <a:t>Proyek</a:t>
            </a:r>
            <a:r>
              <a:rPr lang="en-ID" dirty="0"/>
              <a:t> Website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terdapat</a:t>
            </a:r>
            <a:r>
              <a:rPr lang="en-ID" dirty="0"/>
              <a:t> pada website.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 err="1"/>
              <a:t>Perancangan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</a:t>
            </a:r>
            <a:r>
              <a:rPr lang="en-ID" dirty="0" err="1"/>
              <a:t>Pengumpulan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mengumpulkan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dan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, </a:t>
            </a:r>
            <a:r>
              <a:rPr lang="en-ID" dirty="0" err="1"/>
              <a:t>konsep</a:t>
            </a:r>
            <a:r>
              <a:rPr lang="en-ID" dirty="0"/>
              <a:t>, </a:t>
            </a:r>
            <a:r>
              <a:rPr lang="en-ID" dirty="0" err="1"/>
              <a:t>fitur</a:t>
            </a:r>
            <a:r>
              <a:rPr lang="en-ID" dirty="0"/>
              <a:t> yang </a:t>
            </a:r>
            <a:r>
              <a:rPr lang="en-ID" dirty="0" err="1"/>
              <a:t>diberikan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</a:t>
            </a:r>
            <a:r>
              <a:rPr lang="en-ID" dirty="0" err="1"/>
              <a:t>Membangun</a:t>
            </a:r>
            <a:r>
              <a:rPr lang="en-ID" dirty="0"/>
              <a:t> Prototype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perancangan</a:t>
            </a:r>
            <a:r>
              <a:rPr lang="en-ID" dirty="0"/>
              <a:t> </a:t>
            </a:r>
            <a:r>
              <a:rPr lang="en-ID" dirty="0" err="1"/>
              <a:t>sementara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disajikan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. Pembangunan </a:t>
            </a:r>
            <a:r>
              <a:rPr lang="en-ID" dirty="0" err="1"/>
              <a:t>protoype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figma</a:t>
            </a:r>
            <a:r>
              <a:rPr lang="en-ID" dirty="0"/>
              <a:t> dan </a:t>
            </a:r>
            <a:r>
              <a:rPr lang="en-ID" dirty="0" err="1"/>
              <a:t>wix</a:t>
            </a:r>
            <a:r>
              <a:rPr lang="en-ID" dirty="0"/>
              <a:t>. </a:t>
            </a:r>
            <a:r>
              <a:rPr lang="en-ID" dirty="0" err="1"/>
              <a:t>Pembuatan</a:t>
            </a:r>
            <a:r>
              <a:rPr lang="en-ID" dirty="0"/>
              <a:t> UML </a:t>
            </a:r>
            <a:r>
              <a:rPr lang="en-ID" dirty="0" err="1"/>
              <a:t>menggunakan</a:t>
            </a:r>
            <a:r>
              <a:rPr lang="en-ID" dirty="0"/>
              <a:t> use case diagram, sequence diagram dan activity diagram.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</a:t>
            </a:r>
            <a:r>
              <a:rPr lang="en-ID" dirty="0" err="1"/>
              <a:t>Evaluasi</a:t>
            </a:r>
            <a:r>
              <a:rPr lang="en-ID" dirty="0"/>
              <a:t> Prototype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prototype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pelanggan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</a:t>
            </a:r>
            <a:r>
              <a:rPr lang="en-ID" dirty="0" err="1"/>
              <a:t>Mengkodekan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prototype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 </a:t>
            </a:r>
            <a:r>
              <a:rPr lang="en-ID" dirty="0" err="1"/>
              <a:t>Menguji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pengkodean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blackbox</a:t>
            </a:r>
            <a:r>
              <a:rPr lang="en-ID" dirty="0"/>
              <a:t> testing.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-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. 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pelangan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jadi</a:t>
            </a:r>
            <a:r>
              <a:rPr lang="en-ID" dirty="0"/>
              <a:t> website. </a:t>
            </a:r>
            <a:r>
              <a:rPr lang="en-ID" dirty="0" err="1"/>
              <a:t>Apabila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kekeliruan</a:t>
            </a:r>
            <a:r>
              <a:rPr lang="en-ID" dirty="0"/>
              <a:t> / </a:t>
            </a:r>
            <a:r>
              <a:rPr lang="en-ID" dirty="0" err="1"/>
              <a:t>fitur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diharapkan</a:t>
            </a:r>
            <a:r>
              <a:rPr lang="en-ID" dirty="0"/>
              <a:t>,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 dan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mengkodekan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Website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diuji</a:t>
            </a:r>
            <a:r>
              <a:rPr lang="en-ID" dirty="0"/>
              <a:t> dan </a:t>
            </a:r>
            <a:r>
              <a:rPr lang="en-ID" dirty="0" err="1"/>
              <a:t>disetujui</a:t>
            </a:r>
            <a:r>
              <a:rPr lang="en-ID" dirty="0"/>
              <a:t> oleh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dan </a:t>
            </a:r>
            <a:r>
              <a:rPr lang="en-ID" dirty="0" err="1"/>
              <a:t>disebarluaskan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ID" dirty="0"/>
              <a:t>Kesimpulan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terakhir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 yang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kesimpulan</a:t>
            </a:r>
            <a:r>
              <a:rPr lang="en-ID" dirty="0"/>
              <a:t> dan saran </a:t>
            </a:r>
            <a:r>
              <a:rPr lang="en-ID" dirty="0" err="1"/>
              <a:t>dari</a:t>
            </a:r>
            <a:r>
              <a:rPr lang="en-ID" dirty="0"/>
              <a:t> proses-proses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dijalankan</a:t>
            </a:r>
            <a:endParaRPr lang="en-ID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8677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0" name="Google Shape;13610;gf007feeaa6_0_28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1" name="Google Shape;13611;gf007feeaa6_0_28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495626"/>
            <a:ext cx="5408700" cy="28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4137099"/>
            <a:ext cx="4711500" cy="7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746650" y="953825"/>
            <a:ext cx="4516200" cy="45162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2;p2"/>
          <p:cNvSpPr/>
          <p:nvPr/>
        </p:nvSpPr>
        <p:spPr>
          <a:xfrm>
            <a:off x="5846599" y="-1024401"/>
            <a:ext cx="4310400" cy="43104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6877925" y="958275"/>
            <a:ext cx="4598400" cy="45984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7"/>
          <p:cNvSpPr/>
          <p:nvPr/>
        </p:nvSpPr>
        <p:spPr>
          <a:xfrm>
            <a:off x="-2685100" y="-1618950"/>
            <a:ext cx="5506800" cy="55068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2007050" y="1116617"/>
            <a:ext cx="5200500" cy="13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2007050" y="2862592"/>
            <a:ext cx="4501200" cy="13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ctrTitle"/>
          </p:nvPr>
        </p:nvSpPr>
        <p:spPr>
          <a:xfrm>
            <a:off x="713225" y="1395931"/>
            <a:ext cx="5226900" cy="1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713225" y="2719014"/>
            <a:ext cx="4272000" cy="11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3803575" y="843650"/>
            <a:ext cx="4516200" cy="45162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9"/>
          <p:cNvSpPr/>
          <p:nvPr/>
        </p:nvSpPr>
        <p:spPr>
          <a:xfrm>
            <a:off x="2783524" y="-991326"/>
            <a:ext cx="4310400" cy="43104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 flipH="1">
            <a:off x="1415725" y="15098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 flipH="1">
            <a:off x="141597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rgbClr val="C95E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ctrTitle" idx="3"/>
          </p:nvPr>
        </p:nvSpPr>
        <p:spPr>
          <a:xfrm>
            <a:off x="4829051" y="15098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4"/>
          </p:nvPr>
        </p:nvSpPr>
        <p:spPr>
          <a:xfrm>
            <a:off x="4829025" y="2328350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4133313" y="1267087"/>
            <a:ext cx="733500" cy="135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rgbClr val="C95E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ctrTitle" idx="6"/>
          </p:nvPr>
        </p:nvSpPr>
        <p:spPr>
          <a:xfrm flipH="1">
            <a:off x="1415723" y="3091750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7"/>
          </p:nvPr>
        </p:nvSpPr>
        <p:spPr>
          <a:xfrm flipH="1">
            <a:off x="1415771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8" hasCustomPrompt="1"/>
          </p:nvPr>
        </p:nvSpPr>
        <p:spPr>
          <a:xfrm flipH="1">
            <a:off x="723428" y="2846638"/>
            <a:ext cx="733500" cy="135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rgbClr val="C95E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ctrTitle" idx="9"/>
          </p:nvPr>
        </p:nvSpPr>
        <p:spPr>
          <a:xfrm>
            <a:off x="4829053" y="3091759"/>
            <a:ext cx="23958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4829054" y="3907446"/>
            <a:ext cx="23955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4130513" y="2846638"/>
            <a:ext cx="733500" cy="135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900">
                <a:solidFill>
                  <a:srgbClr val="C95E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ctrTitle" idx="15"/>
          </p:nvPr>
        </p:nvSpPr>
        <p:spPr>
          <a:xfrm>
            <a:off x="715450" y="436050"/>
            <a:ext cx="77130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7170050" y="1976500"/>
            <a:ext cx="3647700" cy="36477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13"/>
          <p:cNvSpPr/>
          <p:nvPr/>
        </p:nvSpPr>
        <p:spPr>
          <a:xfrm>
            <a:off x="7347650" y="-809450"/>
            <a:ext cx="2697900" cy="26979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2">
  <p:cSld name="TITLE_ONLY_2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6"/>
          <p:cNvSpPr/>
          <p:nvPr/>
        </p:nvSpPr>
        <p:spPr>
          <a:xfrm flipH="1">
            <a:off x="6497800" y="1775075"/>
            <a:ext cx="4312500" cy="43125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36"/>
          <p:cNvSpPr/>
          <p:nvPr/>
        </p:nvSpPr>
        <p:spPr>
          <a:xfrm flipH="1">
            <a:off x="-2249150" y="176525"/>
            <a:ext cx="3647700" cy="36477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>
            <a:spLocks noGrp="1"/>
          </p:cNvSpPr>
          <p:nvPr>
            <p:ph type="title"/>
          </p:nvPr>
        </p:nvSpPr>
        <p:spPr>
          <a:xfrm>
            <a:off x="4146525" y="1597547"/>
            <a:ext cx="4158300" cy="14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7" name="Google Shape;187;p39"/>
          <p:cNvSpPr txBox="1">
            <a:spLocks noGrp="1"/>
          </p:cNvSpPr>
          <p:nvPr>
            <p:ph type="title" idx="2" hasCustomPrompt="1"/>
          </p:nvPr>
        </p:nvSpPr>
        <p:spPr>
          <a:xfrm>
            <a:off x="4146526" y="137225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9"/>
          <p:cNvSpPr txBox="1">
            <a:spLocks noGrp="1"/>
          </p:cNvSpPr>
          <p:nvPr>
            <p:ph type="subTitle" idx="1"/>
          </p:nvPr>
        </p:nvSpPr>
        <p:spPr>
          <a:xfrm>
            <a:off x="4146525" y="4166097"/>
            <a:ext cx="4284300" cy="5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9"/>
          <p:cNvSpPr/>
          <p:nvPr/>
        </p:nvSpPr>
        <p:spPr>
          <a:xfrm>
            <a:off x="1907225" y="2588100"/>
            <a:ext cx="2555400" cy="25554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39"/>
          <p:cNvSpPr/>
          <p:nvPr/>
        </p:nvSpPr>
        <p:spPr>
          <a:xfrm>
            <a:off x="5390650" y="-1771300"/>
            <a:ext cx="4763700" cy="47637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TITLE_AND_TWO_COLUMNS_1_4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9"/>
          <p:cNvSpPr txBox="1">
            <a:spLocks noGrp="1"/>
          </p:cNvSpPr>
          <p:nvPr>
            <p:ph type="title"/>
          </p:nvPr>
        </p:nvSpPr>
        <p:spPr>
          <a:xfrm>
            <a:off x="714850" y="342305"/>
            <a:ext cx="7714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9"/>
          <p:cNvSpPr txBox="1">
            <a:spLocks noGrp="1"/>
          </p:cNvSpPr>
          <p:nvPr>
            <p:ph type="subTitle" idx="1"/>
          </p:nvPr>
        </p:nvSpPr>
        <p:spPr>
          <a:xfrm>
            <a:off x="1593525" y="3621175"/>
            <a:ext cx="18288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subTitle" idx="2"/>
          </p:nvPr>
        </p:nvSpPr>
        <p:spPr>
          <a:xfrm>
            <a:off x="1593537" y="2073717"/>
            <a:ext cx="18288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49"/>
          <p:cNvSpPr txBox="1">
            <a:spLocks noGrp="1"/>
          </p:cNvSpPr>
          <p:nvPr>
            <p:ph type="subTitle" idx="3"/>
          </p:nvPr>
        </p:nvSpPr>
        <p:spPr>
          <a:xfrm>
            <a:off x="4741445" y="3621279"/>
            <a:ext cx="18288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subTitle" idx="4"/>
          </p:nvPr>
        </p:nvSpPr>
        <p:spPr>
          <a:xfrm>
            <a:off x="1593517" y="3119653"/>
            <a:ext cx="182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sz="23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subTitle" idx="5"/>
          </p:nvPr>
        </p:nvSpPr>
        <p:spPr>
          <a:xfrm>
            <a:off x="1593533" y="1572190"/>
            <a:ext cx="182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sz="23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1" name="Google Shape;251;p49"/>
          <p:cNvSpPr txBox="1">
            <a:spLocks noGrp="1"/>
          </p:cNvSpPr>
          <p:nvPr>
            <p:ph type="subTitle" idx="6"/>
          </p:nvPr>
        </p:nvSpPr>
        <p:spPr>
          <a:xfrm>
            <a:off x="4741445" y="3119753"/>
            <a:ext cx="182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sz="23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2" name="Google Shape;252;p49"/>
          <p:cNvSpPr txBox="1">
            <a:spLocks noGrp="1"/>
          </p:cNvSpPr>
          <p:nvPr>
            <p:ph type="subTitle" idx="7"/>
          </p:nvPr>
        </p:nvSpPr>
        <p:spPr>
          <a:xfrm>
            <a:off x="4741454" y="2073717"/>
            <a:ext cx="18288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9"/>
          <p:cNvSpPr txBox="1">
            <a:spLocks noGrp="1"/>
          </p:cNvSpPr>
          <p:nvPr>
            <p:ph type="subTitle" idx="8"/>
          </p:nvPr>
        </p:nvSpPr>
        <p:spPr>
          <a:xfrm>
            <a:off x="4741458" y="1572290"/>
            <a:ext cx="182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Bebas Neue"/>
              <a:buNone/>
              <a:defRPr sz="23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AND_BODY_1_1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/>
          <p:nvPr/>
        </p:nvSpPr>
        <p:spPr>
          <a:xfrm flipH="1">
            <a:off x="-2160100" y="-2775592"/>
            <a:ext cx="5930400" cy="59304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56"/>
          <p:cNvSpPr/>
          <p:nvPr/>
        </p:nvSpPr>
        <p:spPr>
          <a:xfrm>
            <a:off x="324775" y="-845100"/>
            <a:ext cx="4516500" cy="45165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1_4_1_2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7"/>
          <p:cNvSpPr/>
          <p:nvPr/>
        </p:nvSpPr>
        <p:spPr>
          <a:xfrm flipH="1">
            <a:off x="5385200" y="277449"/>
            <a:ext cx="3271800" cy="32718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0" name="Google Shape;340;p57"/>
          <p:cNvSpPr/>
          <p:nvPr/>
        </p:nvSpPr>
        <p:spPr>
          <a:xfrm>
            <a:off x="5522900" y="-2706825"/>
            <a:ext cx="6145200" cy="61452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57"/>
          <p:cNvSpPr/>
          <p:nvPr/>
        </p:nvSpPr>
        <p:spPr>
          <a:xfrm>
            <a:off x="-972575" y="3098475"/>
            <a:ext cx="3170400" cy="31704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3875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6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59" r:id="rId5"/>
    <p:sldLayoutId id="2147483682" r:id="rId6"/>
    <p:sldLayoutId id="2147483685" r:id="rId7"/>
    <p:sldLayoutId id="2147483695" r:id="rId8"/>
    <p:sldLayoutId id="2147483702" r:id="rId9"/>
    <p:sldLayoutId id="214748370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5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>
            <a:spLocks noGrp="1"/>
          </p:cNvSpPr>
          <p:nvPr>
            <p:ph type="ctrTitle"/>
          </p:nvPr>
        </p:nvSpPr>
        <p:spPr>
          <a:xfrm>
            <a:off x="713224" y="495626"/>
            <a:ext cx="6366002" cy="2842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r>
              <a:rPr lang="en-ID" sz="4000" dirty="0"/>
              <a:t>RANCANG BANGUN E-LEARNING UNTUK REHABILITASI NAPZA BERBASIS WEBSITE DENGAN METODE PROTOTYPE</a:t>
            </a:r>
            <a:endParaRPr lang="en-ID" sz="16600" dirty="0"/>
          </a:p>
        </p:txBody>
      </p:sp>
      <p:sp>
        <p:nvSpPr>
          <p:cNvPr id="353" name="Google Shape;353;p61"/>
          <p:cNvSpPr txBox="1">
            <a:spLocks noGrp="1"/>
          </p:cNvSpPr>
          <p:nvPr>
            <p:ph type="subTitle" idx="1"/>
          </p:nvPr>
        </p:nvSpPr>
        <p:spPr>
          <a:xfrm>
            <a:off x="755912" y="2932524"/>
            <a:ext cx="4170663" cy="749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Muhammad Mario Wijatmika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18102097</a:t>
            </a:r>
            <a:endParaRPr sz="1800" dirty="0"/>
          </a:p>
        </p:txBody>
      </p:sp>
      <p:sp>
        <p:nvSpPr>
          <p:cNvPr id="354" name="Google Shape;354;p61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5" name="Google Shape;355;p61"/>
          <p:cNvCxnSpPr>
            <a:stCxn id="354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61"/>
          <p:cNvCxnSpPr/>
          <p:nvPr/>
        </p:nvCxnSpPr>
        <p:spPr>
          <a:xfrm>
            <a:off x="713225" y="4776322"/>
            <a:ext cx="8426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878044-5447-42A0-94A1-8C3A8EAB316A}"/>
              </a:ext>
            </a:extLst>
          </p:cNvPr>
          <p:cNvSpPr txBox="1"/>
          <p:nvPr/>
        </p:nvSpPr>
        <p:spPr>
          <a:xfrm>
            <a:off x="649428" y="4146507"/>
            <a:ext cx="58368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Dosen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Pembimbing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Ariq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Cahya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Wardhana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S.Kom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.,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M.Kom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BD877-5DF1-4D1A-B310-D6C692EB15D8}"/>
              </a:ext>
            </a:extLst>
          </p:cNvPr>
          <p:cNvSpPr txBox="1"/>
          <p:nvPr/>
        </p:nvSpPr>
        <p:spPr>
          <a:xfrm>
            <a:off x="649428" y="4423506"/>
            <a:ext cx="58368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Dosen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Penguji</a:t>
            </a:r>
            <a:r>
              <a:rPr lang="en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: </a:t>
            </a:r>
            <a:r>
              <a:rPr lang="en-ID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Muhammad </a:t>
            </a:r>
            <a:r>
              <a:rPr lang="en-ID" sz="12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Azrino</a:t>
            </a:r>
            <a:r>
              <a:rPr lang="en-ID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2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Gustalika</a:t>
            </a:r>
            <a:r>
              <a:rPr lang="en-ID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12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S.Kom</a:t>
            </a:r>
            <a:r>
              <a:rPr lang="en-ID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., </a:t>
            </a:r>
            <a:r>
              <a:rPr lang="en-ID" sz="1200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M.Tr.T</a:t>
            </a:r>
            <a:endParaRPr lang="en-ID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>
            <a:spLocks noGrp="1"/>
          </p:cNvSpPr>
          <p:nvPr>
            <p:ph type="ctrTitle" idx="6"/>
          </p:nvPr>
        </p:nvSpPr>
        <p:spPr>
          <a:xfrm flipH="1">
            <a:off x="1466569" y="3168812"/>
            <a:ext cx="4352983" cy="62565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Metodologi Penelitian</a:t>
            </a:r>
            <a:endParaRPr dirty="0"/>
          </a:p>
        </p:txBody>
      </p:sp>
      <p:sp>
        <p:nvSpPr>
          <p:cNvPr id="379" name="Google Shape;379;p64"/>
          <p:cNvSpPr txBox="1">
            <a:spLocks noGrp="1"/>
          </p:cNvSpPr>
          <p:nvPr>
            <p:ph type="title" idx="8"/>
          </p:nvPr>
        </p:nvSpPr>
        <p:spPr>
          <a:xfrm flipH="1">
            <a:off x="695943" y="2687332"/>
            <a:ext cx="733500" cy="1228648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80" name="Google Shape;380;p64"/>
          <p:cNvSpPr txBox="1">
            <a:spLocks noGrp="1"/>
          </p:cNvSpPr>
          <p:nvPr>
            <p:ph type="ctrTitle" idx="15"/>
          </p:nvPr>
        </p:nvSpPr>
        <p:spPr>
          <a:xfrm>
            <a:off x="715450" y="436050"/>
            <a:ext cx="7713000" cy="57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 Presentasi</a:t>
            </a:r>
            <a:endParaRPr sz="3600" dirty="0"/>
          </a:p>
        </p:txBody>
      </p:sp>
      <p:sp>
        <p:nvSpPr>
          <p:cNvPr id="381" name="Google Shape;381;p64"/>
          <p:cNvSpPr txBox="1">
            <a:spLocks noGrp="1"/>
          </p:cNvSpPr>
          <p:nvPr>
            <p:ph type="ctrTitle"/>
          </p:nvPr>
        </p:nvSpPr>
        <p:spPr>
          <a:xfrm flipH="1">
            <a:off x="1441936" y="1743939"/>
            <a:ext cx="2395800" cy="45329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Pendahuluan</a:t>
            </a:r>
            <a:endParaRPr dirty="0"/>
          </a:p>
        </p:txBody>
      </p:sp>
      <p:sp>
        <p:nvSpPr>
          <p:cNvPr id="383" name="Google Shape;383;p64"/>
          <p:cNvSpPr txBox="1">
            <a:spLocks noGrp="1"/>
          </p:cNvSpPr>
          <p:nvPr>
            <p:ph type="title" idx="2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4" name="Google Shape;384;p64"/>
          <p:cNvSpPr txBox="1">
            <a:spLocks noGrp="1"/>
          </p:cNvSpPr>
          <p:nvPr>
            <p:ph type="ctrTitle" idx="3"/>
          </p:nvPr>
        </p:nvSpPr>
        <p:spPr>
          <a:xfrm>
            <a:off x="1466570" y="2440925"/>
            <a:ext cx="2395800" cy="46468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Dasar Teori</a:t>
            </a:r>
            <a:endParaRPr dirty="0"/>
          </a:p>
        </p:txBody>
      </p:sp>
      <p:sp>
        <p:nvSpPr>
          <p:cNvPr id="386" name="Google Shape;386;p64"/>
          <p:cNvSpPr txBox="1">
            <a:spLocks noGrp="1"/>
          </p:cNvSpPr>
          <p:nvPr>
            <p:ph type="title" idx="5"/>
          </p:nvPr>
        </p:nvSpPr>
        <p:spPr>
          <a:xfrm>
            <a:off x="708436" y="1951656"/>
            <a:ext cx="733500" cy="1350000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90" name="Google Shape;390;p64"/>
          <p:cNvCxnSpPr/>
          <p:nvPr/>
        </p:nvCxnSpPr>
        <p:spPr>
          <a:xfrm>
            <a:off x="3595" y="2326250"/>
            <a:ext cx="69672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64"/>
          <p:cNvCxnSpPr/>
          <p:nvPr/>
        </p:nvCxnSpPr>
        <p:spPr>
          <a:xfrm>
            <a:off x="0" y="3722562"/>
            <a:ext cx="692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64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3" name="Google Shape;393;p64"/>
          <p:cNvCxnSpPr>
            <a:stCxn id="39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391;p64">
            <a:extLst>
              <a:ext uri="{FF2B5EF4-FFF2-40B4-BE49-F238E27FC236}">
                <a16:creationId xmlns:a16="http://schemas.microsoft.com/office/drawing/2014/main" id="{DFB87C45-126E-4136-8B24-073ABE41721A}"/>
              </a:ext>
            </a:extLst>
          </p:cNvPr>
          <p:cNvCxnSpPr/>
          <p:nvPr/>
        </p:nvCxnSpPr>
        <p:spPr>
          <a:xfrm>
            <a:off x="-63796" y="2962733"/>
            <a:ext cx="692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411;p66">
            <a:extLst>
              <a:ext uri="{FF2B5EF4-FFF2-40B4-BE49-F238E27FC236}">
                <a16:creationId xmlns:a16="http://schemas.microsoft.com/office/drawing/2014/main" id="{BA67CAE1-09BE-44C1-BBEC-4D0635C65A74}"/>
              </a:ext>
            </a:extLst>
          </p:cNvPr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>
            <a:spLocks noGrp="1"/>
          </p:cNvSpPr>
          <p:nvPr>
            <p:ph type="title"/>
          </p:nvPr>
        </p:nvSpPr>
        <p:spPr>
          <a:xfrm>
            <a:off x="1855607" y="2212635"/>
            <a:ext cx="5906160" cy="14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Pendahuluan</a:t>
            </a:r>
            <a:endParaRPr sz="7200" dirty="0"/>
          </a:p>
        </p:txBody>
      </p:sp>
      <p:sp>
        <p:nvSpPr>
          <p:cNvPr id="399" name="Google Shape;399;p65"/>
          <p:cNvSpPr txBox="1">
            <a:spLocks noGrp="1"/>
          </p:cNvSpPr>
          <p:nvPr>
            <p:ph type="title" idx="2"/>
          </p:nvPr>
        </p:nvSpPr>
        <p:spPr>
          <a:xfrm>
            <a:off x="1855607" y="702812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401" name="Google Shape;401;p65"/>
          <p:cNvCxnSpPr/>
          <p:nvPr/>
        </p:nvCxnSpPr>
        <p:spPr>
          <a:xfrm>
            <a:off x="713225" y="4099372"/>
            <a:ext cx="7731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65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4" name="Google Shape;404;p65"/>
          <p:cNvCxnSpPr>
            <a:stCxn id="40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442653" y="1413201"/>
            <a:ext cx="8258693" cy="33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400" dirty="0"/>
              <a:t>BRSKPN </a:t>
            </a:r>
            <a:r>
              <a:rPr lang="en-ID" sz="1400" dirty="0" err="1"/>
              <a:t>adalah</a:t>
            </a:r>
            <a:r>
              <a:rPr lang="en-ID" sz="1400" dirty="0"/>
              <a:t> Unit </a:t>
            </a:r>
            <a:r>
              <a:rPr lang="en-ID" sz="1400" dirty="0" err="1"/>
              <a:t>Pelaksana</a:t>
            </a:r>
            <a:r>
              <a:rPr lang="en-ID" sz="1400" dirty="0"/>
              <a:t> Teknis </a:t>
            </a:r>
            <a:r>
              <a:rPr lang="en-ID" sz="1400" dirty="0" err="1"/>
              <a:t>Rehabilitasi</a:t>
            </a:r>
            <a:r>
              <a:rPr lang="en-ID" sz="1400" dirty="0"/>
              <a:t> Sosial Korban </a:t>
            </a:r>
            <a:r>
              <a:rPr lang="en-ID" sz="1400" dirty="0" err="1"/>
              <a:t>Penyalahgunaan</a:t>
            </a:r>
            <a:r>
              <a:rPr lang="en-ID" sz="1400" dirty="0"/>
              <a:t> </a:t>
            </a:r>
            <a:r>
              <a:rPr lang="en-ID" sz="1400" dirty="0" err="1"/>
              <a:t>Narkotika</a:t>
            </a:r>
            <a:r>
              <a:rPr lang="en-ID" sz="1400" dirty="0"/>
              <a:t>, </a:t>
            </a:r>
            <a:r>
              <a:rPr lang="en-ID" sz="1400" dirty="0" err="1"/>
              <a:t>Psikotropika</a:t>
            </a:r>
            <a:r>
              <a:rPr lang="en-ID" sz="1400" dirty="0"/>
              <a:t>, dan </a:t>
            </a:r>
            <a:r>
              <a:rPr lang="en-ID" sz="1400" dirty="0" err="1"/>
              <a:t>Zat</a:t>
            </a:r>
            <a:r>
              <a:rPr lang="en-ID" sz="1400" dirty="0"/>
              <a:t> </a:t>
            </a:r>
            <a:r>
              <a:rPr lang="en-ID" sz="1400" dirty="0" err="1"/>
              <a:t>Adiktif</a:t>
            </a:r>
            <a:r>
              <a:rPr lang="en-ID" sz="1400" dirty="0"/>
              <a:t> </a:t>
            </a:r>
            <a:r>
              <a:rPr lang="en-ID" sz="1400" dirty="0" err="1"/>
              <a:t>Lainnya</a:t>
            </a:r>
            <a:r>
              <a:rPr lang="en-ID" sz="1400" dirty="0"/>
              <a:t>. </a:t>
            </a:r>
            <a:r>
              <a:rPr lang="en-ID" sz="1400" dirty="0" err="1"/>
              <a:t>Tugas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BRSKPN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melaksanakan</a:t>
            </a:r>
            <a:r>
              <a:rPr lang="en-ID" sz="1400" dirty="0"/>
              <a:t> </a:t>
            </a:r>
            <a:r>
              <a:rPr lang="en-ID" sz="1400" dirty="0" err="1"/>
              <a:t>rehabilitasi</a:t>
            </a:r>
            <a:r>
              <a:rPr lang="en-ID" sz="1400" dirty="0"/>
              <a:t> </a:t>
            </a:r>
            <a:r>
              <a:rPr lang="en-ID" sz="1400" dirty="0" err="1"/>
              <a:t>sosial</a:t>
            </a:r>
            <a:r>
              <a:rPr lang="en-ID" sz="1400" dirty="0"/>
              <a:t> </a:t>
            </a:r>
            <a:r>
              <a:rPr lang="en-ID" sz="1400" dirty="0" err="1"/>
              <a:t>kepada</a:t>
            </a:r>
            <a:r>
              <a:rPr lang="en-ID" sz="1400" dirty="0"/>
              <a:t> korban </a:t>
            </a:r>
            <a:r>
              <a:rPr lang="en-ID" sz="1400" dirty="0" err="1"/>
              <a:t>penyalahgunaan</a:t>
            </a:r>
            <a:r>
              <a:rPr lang="en-ID" sz="1400" dirty="0"/>
              <a:t> </a:t>
            </a:r>
            <a:r>
              <a:rPr lang="en-ID" sz="1400" dirty="0" err="1"/>
              <a:t>Narkotika</a:t>
            </a:r>
            <a:r>
              <a:rPr lang="en-ID" sz="1400" dirty="0"/>
              <a:t>, </a:t>
            </a:r>
            <a:r>
              <a:rPr lang="en-ID" sz="1400" dirty="0" err="1"/>
              <a:t>Psikotropika</a:t>
            </a:r>
            <a:r>
              <a:rPr lang="en-ID" sz="1400" dirty="0"/>
              <a:t>, dan </a:t>
            </a:r>
            <a:r>
              <a:rPr lang="en-ID" sz="1400" dirty="0" err="1"/>
              <a:t>Zat</a:t>
            </a:r>
            <a:r>
              <a:rPr lang="en-ID" sz="1400" dirty="0"/>
              <a:t> </a:t>
            </a:r>
            <a:r>
              <a:rPr lang="en-ID" sz="1400" dirty="0" err="1"/>
              <a:t>Adiktif</a:t>
            </a:r>
            <a:r>
              <a:rPr lang="en-ID" sz="1400" dirty="0"/>
              <a:t> </a:t>
            </a:r>
            <a:r>
              <a:rPr lang="en-ID" sz="1400" dirty="0" err="1"/>
              <a:t>Lainnya</a:t>
            </a:r>
            <a:r>
              <a:rPr lang="en-ID" sz="1400" dirty="0"/>
              <a:t>. Pada </a:t>
            </a:r>
            <a:r>
              <a:rPr lang="en-ID" sz="1400" dirty="0" err="1"/>
              <a:t>pusat</a:t>
            </a:r>
            <a:r>
              <a:rPr lang="en-ID" sz="1400" dirty="0"/>
              <a:t> </a:t>
            </a:r>
            <a:r>
              <a:rPr lang="en-ID" sz="1400" dirty="0" err="1"/>
              <a:t>rehabilitasi</a:t>
            </a:r>
            <a:r>
              <a:rPr lang="en-ID" sz="1400" dirty="0"/>
              <a:t> </a:t>
            </a:r>
            <a:r>
              <a:rPr lang="en-ID" sz="1400" dirty="0" err="1"/>
              <a:t>dilaksanakan</a:t>
            </a:r>
            <a:r>
              <a:rPr lang="en-ID" sz="1400" dirty="0"/>
              <a:t> </a:t>
            </a:r>
            <a:r>
              <a:rPr lang="en-ID" sz="1400" dirty="0" err="1"/>
              <a:t>pembinaan</a:t>
            </a:r>
            <a:r>
              <a:rPr lang="en-ID" sz="1400" dirty="0"/>
              <a:t> dan proses </a:t>
            </a:r>
            <a:r>
              <a:rPr lang="en-ID" sz="1400" dirty="0" err="1"/>
              <a:t>pembelajaran</a:t>
            </a:r>
            <a:r>
              <a:rPr lang="en-ID" sz="1400" dirty="0"/>
              <a:t> </a:t>
            </a:r>
            <a:r>
              <a:rPr lang="en-ID" sz="1400" dirty="0" err="1"/>
              <a:t>keterampilan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meningkatkan</a:t>
            </a:r>
            <a:r>
              <a:rPr lang="en-ID" sz="1400" dirty="0"/>
              <a:t> </a:t>
            </a:r>
            <a:r>
              <a:rPr lang="en-ID" sz="1400" dirty="0" err="1"/>
              <a:t>kemampuan</a:t>
            </a:r>
            <a:r>
              <a:rPr lang="en-ID" sz="1400" dirty="0"/>
              <a:t> </a:t>
            </a:r>
            <a:r>
              <a:rPr lang="en-ID" sz="1400" dirty="0" err="1"/>
              <a:t>hidup</a:t>
            </a:r>
            <a:r>
              <a:rPr lang="en-ID" sz="1400" dirty="0"/>
              <a:t> pada </a:t>
            </a:r>
            <a:r>
              <a:rPr lang="en-ID" sz="1400" dirty="0" err="1"/>
              <a:t>saat</a:t>
            </a:r>
            <a:r>
              <a:rPr lang="en-ID" sz="1400" dirty="0"/>
              <a:t> </a:t>
            </a:r>
            <a:r>
              <a:rPr lang="en-ID" sz="1400" dirty="0" err="1"/>
              <a:t>diterima</a:t>
            </a:r>
            <a:r>
              <a:rPr lang="en-ID" sz="1400" dirty="0"/>
              <a:t> </a:t>
            </a:r>
            <a:r>
              <a:rPr lang="en-ID" sz="1400" dirty="0" err="1"/>
              <a:t>kembali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masyarakat</a:t>
            </a:r>
            <a:r>
              <a:rPr lang="en-ID" sz="1400" dirty="0"/>
              <a:t>. </a:t>
            </a:r>
            <a:r>
              <a:rPr lang="en-ID" sz="1400" dirty="0" err="1"/>
              <a:t>Pembelajaran</a:t>
            </a:r>
            <a:r>
              <a:rPr lang="en-ID" sz="1400" dirty="0"/>
              <a:t> </a:t>
            </a:r>
            <a:r>
              <a:rPr lang="en-ID" sz="1400" dirty="0" err="1"/>
              <a:t>biasanya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tatap</a:t>
            </a:r>
            <a:r>
              <a:rPr lang="en-ID" sz="1400" dirty="0"/>
              <a:t> </a:t>
            </a:r>
            <a:r>
              <a:rPr lang="en-ID" sz="1400" dirty="0" err="1"/>
              <a:t>muka</a:t>
            </a:r>
            <a:r>
              <a:rPr lang="en-ID" sz="1400" dirty="0"/>
              <a:t> guru </a:t>
            </a:r>
            <a:r>
              <a:rPr lang="en-ID" sz="1400" dirty="0" err="1"/>
              <a:t>dengan</a:t>
            </a:r>
            <a:r>
              <a:rPr lang="en-ID" sz="1400" dirty="0"/>
              <a:t> para </a:t>
            </a:r>
            <a:r>
              <a:rPr lang="en-ID" sz="1400" dirty="0" err="1"/>
              <a:t>rehabilitasi</a:t>
            </a:r>
            <a:r>
              <a:rPr lang="en-ID" sz="1400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400" dirty="0" err="1"/>
              <a:t>Dampak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virus Corona Virus Disease 2019 (Covid-19) </a:t>
            </a:r>
            <a:r>
              <a:rPr lang="en-ID" sz="1400" dirty="0" err="1"/>
              <a:t>membuat</a:t>
            </a:r>
            <a:r>
              <a:rPr lang="en-ID" sz="1400" dirty="0"/>
              <a:t> </a:t>
            </a:r>
            <a:r>
              <a:rPr lang="en-ID" sz="1400" dirty="0" err="1"/>
              <a:t>pembelajaran</a:t>
            </a:r>
            <a:r>
              <a:rPr lang="en-ID" sz="1400" dirty="0"/>
              <a:t> yang </a:t>
            </a:r>
            <a:r>
              <a:rPr lang="en-ID" sz="1400" dirty="0" err="1"/>
              <a:t>selama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terbiasa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konvensional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tatap</a:t>
            </a:r>
            <a:r>
              <a:rPr lang="en-ID" sz="1400" dirty="0"/>
              <a:t> </a:t>
            </a:r>
            <a:r>
              <a:rPr lang="en-ID" sz="1400" dirty="0" err="1"/>
              <a:t>muka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langsung</a:t>
            </a:r>
            <a:r>
              <a:rPr lang="en-ID" sz="1400" dirty="0"/>
              <a:t> </a:t>
            </a:r>
            <a:r>
              <a:rPr lang="en-ID" sz="1400" dirty="0" err="1"/>
              <a:t>mulai</a:t>
            </a:r>
            <a:r>
              <a:rPr lang="en-ID" sz="1400" dirty="0"/>
              <a:t> </a:t>
            </a:r>
            <a:r>
              <a:rPr lang="en-ID" sz="1400" dirty="0" err="1"/>
              <a:t>beralih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pembelajaran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media daring </a:t>
            </a:r>
            <a:r>
              <a:rPr lang="en-ID" sz="1400" dirty="0" err="1"/>
              <a:t>seperti</a:t>
            </a:r>
            <a:r>
              <a:rPr lang="en-ID" sz="1400" dirty="0"/>
              <a:t> e-learning. 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400" dirty="0" err="1"/>
              <a:t>Namun</a:t>
            </a:r>
            <a:r>
              <a:rPr lang="en-ID" sz="1400" dirty="0"/>
              <a:t> pada </a:t>
            </a:r>
            <a:r>
              <a:rPr lang="en-ID" sz="1400" dirty="0" err="1"/>
              <a:t>saat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e-learning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tersedia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para </a:t>
            </a:r>
            <a:r>
              <a:rPr lang="en-ID" sz="1400" dirty="0" err="1"/>
              <a:t>rehabilitasi</a:t>
            </a:r>
            <a:r>
              <a:rPr lang="en-ID" sz="1400" dirty="0"/>
              <a:t> </a:t>
            </a:r>
            <a:r>
              <a:rPr lang="en-ID" sz="1400" dirty="0" err="1"/>
              <a:t>napza</a:t>
            </a:r>
            <a:r>
              <a:rPr lang="en-ID" sz="1400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400" dirty="0" err="1"/>
              <a:t>Kementrian</a:t>
            </a:r>
            <a:r>
              <a:rPr lang="en-ID" sz="1400" dirty="0"/>
              <a:t> Sosial </a:t>
            </a:r>
            <a:r>
              <a:rPr lang="en-ID" sz="1400" dirty="0" err="1"/>
              <a:t>Republik</a:t>
            </a:r>
            <a:r>
              <a:rPr lang="en-ID" sz="1400" dirty="0"/>
              <a:t> Indonesia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hal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ingin</a:t>
            </a:r>
            <a:r>
              <a:rPr lang="en-ID" sz="1400" dirty="0"/>
              <a:t> </a:t>
            </a:r>
            <a:r>
              <a:rPr lang="en-ID" sz="1400" dirty="0" err="1"/>
              <a:t>meningkatkan</a:t>
            </a:r>
            <a:r>
              <a:rPr lang="en-ID" sz="1400" dirty="0"/>
              <a:t> </a:t>
            </a:r>
            <a:r>
              <a:rPr lang="en-ID" sz="1400" dirty="0" err="1"/>
              <a:t>pelayanan</a:t>
            </a:r>
            <a:r>
              <a:rPr lang="en-ID" sz="1400" dirty="0"/>
              <a:t> pada proses </a:t>
            </a:r>
            <a:r>
              <a:rPr lang="en-ID" sz="1400" dirty="0" err="1"/>
              <a:t>pembinaan</a:t>
            </a:r>
            <a:r>
              <a:rPr lang="en-ID" sz="1400" dirty="0"/>
              <a:t> dan </a:t>
            </a:r>
            <a:r>
              <a:rPr lang="en-ID" sz="1400" dirty="0" err="1"/>
              <a:t>ketrampilan</a:t>
            </a:r>
            <a:r>
              <a:rPr lang="en-ID" sz="1400" dirty="0"/>
              <a:t> </a:t>
            </a:r>
            <a:r>
              <a:rPr lang="en-ID" sz="1400" dirty="0" err="1"/>
              <a:t>rehabilitasi</a:t>
            </a:r>
            <a:r>
              <a:rPr lang="en-ID" sz="1400" dirty="0"/>
              <a:t> </a:t>
            </a:r>
            <a:r>
              <a:rPr lang="en-ID" sz="1400" dirty="0" err="1"/>
              <a:t>melalui</a:t>
            </a:r>
            <a:r>
              <a:rPr lang="en-ID" sz="1400" dirty="0"/>
              <a:t> </a:t>
            </a:r>
            <a:r>
              <a:rPr lang="en-ID" sz="1400" dirty="0" err="1"/>
              <a:t>pembelajaran</a:t>
            </a:r>
            <a:r>
              <a:rPr lang="en-ID" sz="1400" dirty="0"/>
              <a:t> daring </a:t>
            </a:r>
            <a:r>
              <a:rPr lang="en-ID" sz="1400" dirty="0" err="1"/>
              <a:t>dengan</a:t>
            </a:r>
            <a:r>
              <a:rPr lang="en-ID" sz="1400" dirty="0"/>
              <a:t> e-learning.</a:t>
            </a:r>
            <a:endParaRPr lang="en-ID" sz="12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50" y="669723"/>
            <a:ext cx="4543036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 err="1">
                <a:solidFill>
                  <a:schemeClr val="bg1"/>
                </a:solidFill>
              </a:rPr>
              <a:t>Latar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Belakang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1035450" y="1986903"/>
            <a:ext cx="7073100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dirty="0" err="1"/>
              <a:t>Merancang</a:t>
            </a:r>
            <a:r>
              <a:rPr lang="en-ID" dirty="0"/>
              <a:t> dan </a:t>
            </a:r>
            <a:r>
              <a:rPr lang="en-ID" dirty="0" err="1"/>
              <a:t>membangun</a:t>
            </a:r>
            <a:r>
              <a:rPr lang="en-ID" dirty="0"/>
              <a:t> website </a:t>
            </a:r>
            <a:r>
              <a:rPr lang="en-ID" dirty="0" err="1"/>
              <a:t>elearning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rehabilitasi</a:t>
            </a:r>
            <a:r>
              <a:rPr lang="en-ID" dirty="0"/>
              <a:t> </a:t>
            </a:r>
            <a:r>
              <a:rPr lang="en-ID" dirty="0" err="1"/>
              <a:t>napza</a:t>
            </a:r>
            <a:endParaRPr lang="en-ID" sz="14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50" y="669723"/>
            <a:ext cx="4543036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 err="1">
                <a:solidFill>
                  <a:schemeClr val="bg1"/>
                </a:solidFill>
              </a:rPr>
              <a:t>Rumusan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Masalah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44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1480456" y="1611995"/>
            <a:ext cx="599897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600" dirty="0" err="1"/>
              <a:t>Teknologi</a:t>
            </a:r>
            <a:r>
              <a:rPr lang="en-ID" sz="1600" dirty="0"/>
              <a:t> </a:t>
            </a:r>
            <a:r>
              <a:rPr lang="en-ID" sz="1600" dirty="0" err="1"/>
              <a:t>penge</a:t>
            </a:r>
            <a:r>
              <a:rPr lang="en-ID" dirty="0" err="1"/>
              <a:t>mbangan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membangun</a:t>
            </a:r>
            <a:r>
              <a:rPr lang="en-ID" sz="1600" dirty="0"/>
              <a:t> website </a:t>
            </a:r>
            <a:r>
              <a:rPr lang="en-ID" sz="1600" dirty="0" err="1"/>
              <a:t>elearning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rehabilitasi</a:t>
            </a:r>
            <a:r>
              <a:rPr lang="en-ID" sz="1600" dirty="0"/>
              <a:t> </a:t>
            </a:r>
            <a:r>
              <a:rPr lang="en-ID" sz="1600" dirty="0" err="1"/>
              <a:t>napza</a:t>
            </a:r>
            <a:r>
              <a:rPr lang="en-ID" sz="1600" dirty="0"/>
              <a:t>?</a:t>
            </a:r>
            <a:endParaRPr lang="en-ID" sz="12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49" y="669723"/>
            <a:ext cx="5159893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 err="1">
                <a:solidFill>
                  <a:schemeClr val="bg1"/>
                </a:solidFill>
              </a:rPr>
              <a:t>Pertanyaan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Penelitian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Google Shape;409;p66">
            <a:extLst>
              <a:ext uri="{FF2B5EF4-FFF2-40B4-BE49-F238E27FC236}">
                <a16:creationId xmlns:a16="http://schemas.microsoft.com/office/drawing/2014/main" id="{F8E1821E-C80A-4F78-9E1E-AFFA25B74A0C}"/>
              </a:ext>
            </a:extLst>
          </p:cNvPr>
          <p:cNvSpPr txBox="1">
            <a:spLocks/>
          </p:cNvSpPr>
          <p:nvPr/>
        </p:nvSpPr>
        <p:spPr>
          <a:xfrm>
            <a:off x="779130" y="1611995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0" name="Google Shape;409;p66">
            <a:extLst>
              <a:ext uri="{FF2B5EF4-FFF2-40B4-BE49-F238E27FC236}">
                <a16:creationId xmlns:a16="http://schemas.microsoft.com/office/drawing/2014/main" id="{EBADC684-F4C4-457C-8AFF-B049C597793A}"/>
              </a:ext>
            </a:extLst>
          </p:cNvPr>
          <p:cNvSpPr txBox="1">
            <a:spLocks/>
          </p:cNvSpPr>
          <p:nvPr/>
        </p:nvSpPr>
        <p:spPr>
          <a:xfrm>
            <a:off x="779130" y="2554267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" name="Google Shape;410;p66">
            <a:extLst>
              <a:ext uri="{FF2B5EF4-FFF2-40B4-BE49-F238E27FC236}">
                <a16:creationId xmlns:a16="http://schemas.microsoft.com/office/drawing/2014/main" id="{7FE14F8D-7EE3-4ADC-8C50-34EE0EAD1342}"/>
              </a:ext>
            </a:extLst>
          </p:cNvPr>
          <p:cNvSpPr txBox="1">
            <a:spLocks/>
          </p:cNvSpPr>
          <p:nvPr/>
        </p:nvSpPr>
        <p:spPr>
          <a:xfrm>
            <a:off x="1480456" y="2549933"/>
            <a:ext cx="5998979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200"/>
              </a:spcAft>
            </a:pP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website e-learning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rehabilitasi</a:t>
            </a:r>
            <a:r>
              <a:rPr lang="en-ID" dirty="0"/>
              <a:t> </a:t>
            </a:r>
            <a:r>
              <a:rPr lang="en-ID" dirty="0" err="1"/>
              <a:t>napza</a:t>
            </a:r>
            <a:r>
              <a:rPr lang="en-ID" dirty="0"/>
              <a:t>?</a:t>
            </a:r>
            <a:endParaRPr lang="en-ID" sz="1400" dirty="0"/>
          </a:p>
        </p:txBody>
      </p:sp>
      <p:sp>
        <p:nvSpPr>
          <p:cNvPr id="12" name="Google Shape;409;p66">
            <a:extLst>
              <a:ext uri="{FF2B5EF4-FFF2-40B4-BE49-F238E27FC236}">
                <a16:creationId xmlns:a16="http://schemas.microsoft.com/office/drawing/2014/main" id="{75D04D1A-3350-46B5-8753-9D4AF28FB205}"/>
              </a:ext>
            </a:extLst>
          </p:cNvPr>
          <p:cNvSpPr txBox="1">
            <a:spLocks/>
          </p:cNvSpPr>
          <p:nvPr/>
        </p:nvSpPr>
        <p:spPr>
          <a:xfrm>
            <a:off x="779130" y="3342701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3" name="Google Shape;410;p66">
            <a:extLst>
              <a:ext uri="{FF2B5EF4-FFF2-40B4-BE49-F238E27FC236}">
                <a16:creationId xmlns:a16="http://schemas.microsoft.com/office/drawing/2014/main" id="{C0167BED-9798-4200-8207-5AECA44CAF5C}"/>
              </a:ext>
            </a:extLst>
          </p:cNvPr>
          <p:cNvSpPr txBox="1">
            <a:spLocks/>
          </p:cNvSpPr>
          <p:nvPr/>
        </p:nvSpPr>
        <p:spPr>
          <a:xfrm>
            <a:off x="1480456" y="3327471"/>
            <a:ext cx="5998979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200"/>
              </a:spcAft>
            </a:pP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menguji</a:t>
            </a:r>
            <a:r>
              <a:rPr lang="en-ID" dirty="0"/>
              <a:t> website e-learning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rehabilitasi</a:t>
            </a:r>
            <a:r>
              <a:rPr lang="en-ID" dirty="0"/>
              <a:t> </a:t>
            </a:r>
            <a:r>
              <a:rPr lang="en-ID" dirty="0" err="1"/>
              <a:t>napza</a:t>
            </a:r>
            <a:r>
              <a:rPr lang="en-ID" dirty="0"/>
              <a:t>?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157057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1480456" y="1611995"/>
            <a:ext cx="599897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sz="1600" dirty="0" err="1"/>
              <a:t>Metode</a:t>
            </a:r>
            <a:r>
              <a:rPr lang="en-ID" sz="1600" dirty="0"/>
              <a:t> </a:t>
            </a:r>
            <a:r>
              <a:rPr lang="en-ID" sz="1600" dirty="0" err="1"/>
              <a:t>pengembangan</a:t>
            </a:r>
            <a:r>
              <a:rPr lang="en-ID" sz="1600" dirty="0"/>
              <a:t> </a:t>
            </a:r>
            <a:r>
              <a:rPr lang="en-ID" sz="1600" dirty="0" err="1"/>
              <a:t>perangkat</a:t>
            </a:r>
            <a:r>
              <a:rPr lang="en-ID" sz="1600" dirty="0"/>
              <a:t> </a:t>
            </a:r>
            <a:r>
              <a:rPr lang="en-ID" sz="1600" dirty="0" err="1"/>
              <a:t>lunak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metode</a:t>
            </a:r>
            <a:r>
              <a:rPr lang="en-ID" sz="1600" dirty="0"/>
              <a:t> prototype.</a:t>
            </a:r>
            <a:endParaRPr lang="en-ID" sz="12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49" y="669723"/>
            <a:ext cx="5159893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Batasan </a:t>
            </a:r>
            <a:r>
              <a:rPr lang="en-US" sz="3200" dirty="0" err="1">
                <a:solidFill>
                  <a:schemeClr val="bg1"/>
                </a:solidFill>
              </a:rPr>
              <a:t>Masalah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Google Shape;409;p66">
            <a:extLst>
              <a:ext uri="{FF2B5EF4-FFF2-40B4-BE49-F238E27FC236}">
                <a16:creationId xmlns:a16="http://schemas.microsoft.com/office/drawing/2014/main" id="{F8E1821E-C80A-4F78-9E1E-AFFA25B74A0C}"/>
              </a:ext>
            </a:extLst>
          </p:cNvPr>
          <p:cNvSpPr txBox="1">
            <a:spLocks/>
          </p:cNvSpPr>
          <p:nvPr/>
        </p:nvSpPr>
        <p:spPr>
          <a:xfrm>
            <a:off x="779130" y="1665360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0" name="Google Shape;409;p66">
            <a:extLst>
              <a:ext uri="{FF2B5EF4-FFF2-40B4-BE49-F238E27FC236}">
                <a16:creationId xmlns:a16="http://schemas.microsoft.com/office/drawing/2014/main" id="{EBADC684-F4C4-457C-8AFF-B049C597793A}"/>
              </a:ext>
            </a:extLst>
          </p:cNvPr>
          <p:cNvSpPr txBox="1">
            <a:spLocks/>
          </p:cNvSpPr>
          <p:nvPr/>
        </p:nvSpPr>
        <p:spPr>
          <a:xfrm>
            <a:off x="779130" y="2554267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" name="Google Shape;410;p66">
            <a:extLst>
              <a:ext uri="{FF2B5EF4-FFF2-40B4-BE49-F238E27FC236}">
                <a16:creationId xmlns:a16="http://schemas.microsoft.com/office/drawing/2014/main" id="{7FE14F8D-7EE3-4ADC-8C50-34EE0EAD1342}"/>
              </a:ext>
            </a:extLst>
          </p:cNvPr>
          <p:cNvSpPr txBox="1">
            <a:spLocks/>
          </p:cNvSpPr>
          <p:nvPr/>
        </p:nvSpPr>
        <p:spPr>
          <a:xfrm>
            <a:off x="1480456" y="2607632"/>
            <a:ext cx="5998979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200"/>
              </a:spcAft>
            </a:pP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Blackbox Testing</a:t>
            </a:r>
            <a:endParaRPr lang="en-ID" sz="1400" dirty="0"/>
          </a:p>
        </p:txBody>
      </p:sp>
      <p:sp>
        <p:nvSpPr>
          <p:cNvPr id="12" name="Google Shape;409;p66">
            <a:extLst>
              <a:ext uri="{FF2B5EF4-FFF2-40B4-BE49-F238E27FC236}">
                <a16:creationId xmlns:a16="http://schemas.microsoft.com/office/drawing/2014/main" id="{75D04D1A-3350-46B5-8753-9D4AF28FB205}"/>
              </a:ext>
            </a:extLst>
          </p:cNvPr>
          <p:cNvSpPr txBox="1">
            <a:spLocks/>
          </p:cNvSpPr>
          <p:nvPr/>
        </p:nvSpPr>
        <p:spPr>
          <a:xfrm>
            <a:off x="779130" y="3342701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3" name="Google Shape;410;p66">
            <a:extLst>
              <a:ext uri="{FF2B5EF4-FFF2-40B4-BE49-F238E27FC236}">
                <a16:creationId xmlns:a16="http://schemas.microsoft.com/office/drawing/2014/main" id="{C0167BED-9798-4200-8207-5AECA44CAF5C}"/>
              </a:ext>
            </a:extLst>
          </p:cNvPr>
          <p:cNvSpPr txBox="1">
            <a:spLocks/>
          </p:cNvSpPr>
          <p:nvPr/>
        </p:nvSpPr>
        <p:spPr>
          <a:xfrm>
            <a:off x="1480456" y="3376145"/>
            <a:ext cx="5998979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200"/>
              </a:spcAft>
            </a:pPr>
            <a:r>
              <a:rPr lang="en-US" dirty="0" err="1"/>
              <a:t>Pembuatan</a:t>
            </a:r>
            <a:r>
              <a:rPr lang="en-US" dirty="0"/>
              <a:t> website </a:t>
            </a:r>
            <a:r>
              <a:rPr lang="en-US" dirty="0" err="1"/>
              <a:t>menggunakan</a:t>
            </a:r>
            <a:r>
              <a:rPr lang="en-US" dirty="0"/>
              <a:t> framework Laravel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883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1545770" y="1611996"/>
            <a:ext cx="599897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dirty="0" err="1"/>
              <a:t>Merancang</a:t>
            </a:r>
            <a:r>
              <a:rPr lang="en-ID" dirty="0"/>
              <a:t> dan </a:t>
            </a:r>
            <a:r>
              <a:rPr lang="en-ID" dirty="0" err="1"/>
              <a:t>membangun</a:t>
            </a:r>
            <a:r>
              <a:rPr lang="en-ID" dirty="0"/>
              <a:t> website e-learning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rehabilitasi</a:t>
            </a:r>
            <a:r>
              <a:rPr lang="en-ID" dirty="0"/>
              <a:t> </a:t>
            </a:r>
            <a:r>
              <a:rPr lang="en-ID" dirty="0" err="1"/>
              <a:t>napza</a:t>
            </a:r>
            <a:endParaRPr lang="en-ID" sz="12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50" y="669723"/>
            <a:ext cx="4543036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 err="1">
                <a:solidFill>
                  <a:schemeClr val="bg1"/>
                </a:solidFill>
              </a:rPr>
              <a:t>Tujuan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Google Shape;409;p66">
            <a:extLst>
              <a:ext uri="{FF2B5EF4-FFF2-40B4-BE49-F238E27FC236}">
                <a16:creationId xmlns:a16="http://schemas.microsoft.com/office/drawing/2014/main" id="{F8E1821E-C80A-4F78-9E1E-AFFA25B74A0C}"/>
              </a:ext>
            </a:extLst>
          </p:cNvPr>
          <p:cNvSpPr txBox="1">
            <a:spLocks/>
          </p:cNvSpPr>
          <p:nvPr/>
        </p:nvSpPr>
        <p:spPr>
          <a:xfrm>
            <a:off x="779130" y="1611995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0" name="Google Shape;409;p66">
            <a:extLst>
              <a:ext uri="{FF2B5EF4-FFF2-40B4-BE49-F238E27FC236}">
                <a16:creationId xmlns:a16="http://schemas.microsoft.com/office/drawing/2014/main" id="{EBADC684-F4C4-457C-8AFF-B049C597793A}"/>
              </a:ext>
            </a:extLst>
          </p:cNvPr>
          <p:cNvSpPr txBox="1">
            <a:spLocks/>
          </p:cNvSpPr>
          <p:nvPr/>
        </p:nvSpPr>
        <p:spPr>
          <a:xfrm>
            <a:off x="779129" y="2293698"/>
            <a:ext cx="820121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" name="Google Shape;410;p66">
            <a:extLst>
              <a:ext uri="{FF2B5EF4-FFF2-40B4-BE49-F238E27FC236}">
                <a16:creationId xmlns:a16="http://schemas.microsoft.com/office/drawing/2014/main" id="{7FE14F8D-7EE3-4ADC-8C50-34EE0EAD1342}"/>
              </a:ext>
            </a:extLst>
          </p:cNvPr>
          <p:cNvSpPr txBox="1">
            <a:spLocks/>
          </p:cNvSpPr>
          <p:nvPr/>
        </p:nvSpPr>
        <p:spPr>
          <a:xfrm>
            <a:off x="1545768" y="2386446"/>
            <a:ext cx="5998979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Aft>
                <a:spcPts val="1200"/>
              </a:spcAft>
            </a:pPr>
            <a:r>
              <a:rPr lang="en-ID" dirty="0" err="1"/>
              <a:t>Menguji</a:t>
            </a:r>
            <a:r>
              <a:rPr lang="en-ID" dirty="0"/>
              <a:t> website e-learning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blackbox</a:t>
            </a:r>
            <a:r>
              <a:rPr lang="en-ID" dirty="0"/>
              <a:t> testing.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158970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6"/>
          <p:cNvSpPr txBox="1">
            <a:spLocks noGrp="1"/>
          </p:cNvSpPr>
          <p:nvPr>
            <p:ph type="title"/>
          </p:nvPr>
        </p:nvSpPr>
        <p:spPr>
          <a:xfrm>
            <a:off x="471650" y="256175"/>
            <a:ext cx="3198499" cy="6817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</a:rPr>
              <a:t>Pendahuluan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0" name="Google Shape;410;p66"/>
          <p:cNvSpPr txBox="1">
            <a:spLocks noGrp="1"/>
          </p:cNvSpPr>
          <p:nvPr>
            <p:ph type="subTitle" idx="1"/>
          </p:nvPr>
        </p:nvSpPr>
        <p:spPr>
          <a:xfrm>
            <a:off x="1545770" y="1611996"/>
            <a:ext cx="5998979" cy="27060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D" dirty="0"/>
              <a:t>Website e-learning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rehabilitasi</a:t>
            </a:r>
            <a:r>
              <a:rPr lang="en-ID" dirty="0"/>
              <a:t> </a:t>
            </a:r>
            <a:r>
              <a:rPr lang="en-ID" dirty="0" err="1"/>
              <a:t>napza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, </a:t>
            </a:r>
            <a:r>
              <a:rPr lang="en-ID" dirty="0" err="1"/>
              <a:t>laju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dan </a:t>
            </a:r>
            <a:r>
              <a:rPr lang="en-ID" dirty="0" err="1"/>
              <a:t>menyesuaikan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,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sarana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proses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mengajar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bertatap</a:t>
            </a:r>
            <a:r>
              <a:rPr lang="en-ID" dirty="0"/>
              <a:t> </a:t>
            </a:r>
            <a:r>
              <a:rPr lang="en-ID" dirty="0" err="1"/>
              <a:t>muka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yang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berkomunikasi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guru dan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yang </a:t>
            </a:r>
            <a:r>
              <a:rPr lang="en-ID" dirty="0" err="1"/>
              <a:t>desediakan</a:t>
            </a:r>
            <a:r>
              <a:rPr lang="en-ID" dirty="0"/>
              <a:t>. </a:t>
            </a:r>
            <a:endParaRPr lang="en-ID" sz="1200" dirty="0"/>
          </a:p>
        </p:txBody>
      </p:sp>
      <p:cxnSp>
        <p:nvCxnSpPr>
          <p:cNvPr id="411" name="Google Shape;411;p66"/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66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3" name="Google Shape;413;p66"/>
          <p:cNvCxnSpPr>
            <a:stCxn id="41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409;p66">
            <a:extLst>
              <a:ext uri="{FF2B5EF4-FFF2-40B4-BE49-F238E27FC236}">
                <a16:creationId xmlns:a16="http://schemas.microsoft.com/office/drawing/2014/main" id="{B21C8520-9D56-4DF0-88AF-44F6548002E9}"/>
              </a:ext>
            </a:extLst>
          </p:cNvPr>
          <p:cNvSpPr txBox="1">
            <a:spLocks/>
          </p:cNvSpPr>
          <p:nvPr/>
        </p:nvSpPr>
        <p:spPr>
          <a:xfrm>
            <a:off x="471650" y="669723"/>
            <a:ext cx="4543036" cy="681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40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consolata"/>
              <a:buNone/>
              <a:defRPr sz="24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3200" dirty="0" err="1">
                <a:solidFill>
                  <a:schemeClr val="bg1"/>
                </a:solidFill>
              </a:rPr>
              <a:t>Manfaat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432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4"/>
          <p:cNvSpPr txBox="1">
            <a:spLocks noGrp="1"/>
          </p:cNvSpPr>
          <p:nvPr>
            <p:ph type="ctrTitle" idx="6"/>
          </p:nvPr>
        </p:nvSpPr>
        <p:spPr>
          <a:xfrm flipH="1">
            <a:off x="1507790" y="2404999"/>
            <a:ext cx="6460523" cy="62565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dirty="0" err="1"/>
              <a:t>Merancang</a:t>
            </a:r>
            <a:r>
              <a:rPr lang="en-ID" sz="1400" dirty="0"/>
              <a:t> dan </a:t>
            </a:r>
            <a:r>
              <a:rPr lang="en-ID" sz="1400" dirty="0" err="1"/>
              <a:t>membangun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 e-learning </a:t>
            </a:r>
            <a:r>
              <a:rPr lang="en-ID" sz="1400" dirty="0" err="1"/>
              <a:t>berbasis</a:t>
            </a:r>
            <a:r>
              <a:rPr lang="en-ID" sz="1400" dirty="0"/>
              <a:t> web pada SMK </a:t>
            </a:r>
            <a:r>
              <a:rPr lang="en-ID" sz="1400" dirty="0" err="1"/>
              <a:t>Daarut</a:t>
            </a:r>
            <a:r>
              <a:rPr lang="en-ID" sz="1400" dirty="0"/>
              <a:t> Taufiq Tangerang (2018)</a:t>
            </a:r>
            <a:endParaRPr sz="1400" dirty="0"/>
          </a:p>
        </p:txBody>
      </p:sp>
      <p:sp>
        <p:nvSpPr>
          <p:cNvPr id="379" name="Google Shape;379;p64"/>
          <p:cNvSpPr txBox="1">
            <a:spLocks noGrp="1"/>
          </p:cNvSpPr>
          <p:nvPr>
            <p:ph type="title" idx="8"/>
          </p:nvPr>
        </p:nvSpPr>
        <p:spPr>
          <a:xfrm flipH="1">
            <a:off x="695943" y="2687332"/>
            <a:ext cx="733500" cy="1228648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80" name="Google Shape;380;p64"/>
          <p:cNvSpPr txBox="1">
            <a:spLocks noGrp="1"/>
          </p:cNvSpPr>
          <p:nvPr>
            <p:ph type="ctrTitle" idx="15"/>
          </p:nvPr>
        </p:nvSpPr>
        <p:spPr>
          <a:xfrm>
            <a:off x="715450" y="436050"/>
            <a:ext cx="7713000" cy="57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Penelitian terdahulu</a:t>
            </a:r>
            <a:endParaRPr sz="3600" dirty="0"/>
          </a:p>
        </p:txBody>
      </p:sp>
      <p:sp>
        <p:nvSpPr>
          <p:cNvPr id="381" name="Google Shape;381;p64"/>
          <p:cNvSpPr txBox="1">
            <a:spLocks noGrp="1"/>
          </p:cNvSpPr>
          <p:nvPr>
            <p:ph type="ctrTitle"/>
          </p:nvPr>
        </p:nvSpPr>
        <p:spPr>
          <a:xfrm flipH="1">
            <a:off x="1441935" y="1743939"/>
            <a:ext cx="6629535" cy="45329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/>
              <a:t>Merancang dan membangun sistem informasi e-learning pada SMK PGRI 37 Jakarta (2020)</a:t>
            </a:r>
            <a:endParaRPr sz="1400" dirty="0"/>
          </a:p>
        </p:txBody>
      </p:sp>
      <p:sp>
        <p:nvSpPr>
          <p:cNvPr id="383" name="Google Shape;383;p64"/>
          <p:cNvSpPr txBox="1">
            <a:spLocks noGrp="1"/>
          </p:cNvSpPr>
          <p:nvPr>
            <p:ph type="title" idx="2"/>
          </p:nvPr>
        </p:nvSpPr>
        <p:spPr>
          <a:xfrm flipH="1">
            <a:off x="720753" y="1263787"/>
            <a:ext cx="733500" cy="1353300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4" name="Google Shape;384;p64"/>
          <p:cNvSpPr txBox="1">
            <a:spLocks noGrp="1"/>
          </p:cNvSpPr>
          <p:nvPr>
            <p:ph type="ctrTitle" idx="3"/>
          </p:nvPr>
        </p:nvSpPr>
        <p:spPr>
          <a:xfrm>
            <a:off x="1468036" y="3115967"/>
            <a:ext cx="6981488" cy="46468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Rancang</a:t>
            </a:r>
            <a:r>
              <a:rPr lang="en-US" sz="1400" dirty="0"/>
              <a:t> </a:t>
            </a:r>
            <a:r>
              <a:rPr lang="en-US" sz="1400" dirty="0" err="1"/>
              <a:t>bangun</a:t>
            </a:r>
            <a:r>
              <a:rPr lang="en-US" sz="1400" dirty="0"/>
              <a:t> e-learning pronunciation </a:t>
            </a:r>
            <a:r>
              <a:rPr lang="en-US" sz="1400" dirty="0" err="1"/>
              <a:t>bahasa</a:t>
            </a:r>
            <a:r>
              <a:rPr lang="en-US" sz="1400" dirty="0"/>
              <a:t> </a:t>
            </a:r>
            <a:r>
              <a:rPr lang="en-US" sz="1400" dirty="0" err="1"/>
              <a:t>inggris</a:t>
            </a:r>
            <a:r>
              <a:rPr lang="en-US" sz="1400" dirty="0"/>
              <a:t> STKIP </a:t>
            </a:r>
            <a:r>
              <a:rPr lang="en-US" sz="1400" dirty="0" err="1"/>
              <a:t>Setiabudhi</a:t>
            </a:r>
            <a:r>
              <a:rPr lang="en-US" sz="1400" dirty="0"/>
              <a:t> </a:t>
            </a:r>
            <a:r>
              <a:rPr lang="en-US" sz="1400" dirty="0" err="1"/>
              <a:t>Rangkasbitung</a:t>
            </a:r>
            <a:r>
              <a:rPr lang="en-US" sz="1400" dirty="0"/>
              <a:t> </a:t>
            </a:r>
            <a:r>
              <a:rPr lang="en-US" sz="1400" dirty="0" err="1"/>
              <a:t>berbasis</a:t>
            </a:r>
            <a:r>
              <a:rPr lang="en-US" sz="1400" dirty="0"/>
              <a:t> web (2020)</a:t>
            </a:r>
            <a:endParaRPr sz="1400" dirty="0"/>
          </a:p>
        </p:txBody>
      </p:sp>
      <p:sp>
        <p:nvSpPr>
          <p:cNvPr id="386" name="Google Shape;386;p64"/>
          <p:cNvSpPr txBox="1">
            <a:spLocks noGrp="1"/>
          </p:cNvSpPr>
          <p:nvPr>
            <p:ph type="title" idx="5"/>
          </p:nvPr>
        </p:nvSpPr>
        <p:spPr>
          <a:xfrm>
            <a:off x="708437" y="1951355"/>
            <a:ext cx="733500" cy="1350000"/>
          </a:xfrm>
          <a:prstGeom prst="rect">
            <a:avLst/>
          </a:prstGeom>
        </p:spPr>
        <p:txBody>
          <a:bodyPr spcFirstLastPara="1" wrap="square" lIns="91425" tIns="3657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90" name="Google Shape;390;p64"/>
          <p:cNvCxnSpPr/>
          <p:nvPr/>
        </p:nvCxnSpPr>
        <p:spPr>
          <a:xfrm>
            <a:off x="3595" y="2326250"/>
            <a:ext cx="69672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64"/>
          <p:cNvCxnSpPr/>
          <p:nvPr/>
        </p:nvCxnSpPr>
        <p:spPr>
          <a:xfrm>
            <a:off x="0" y="3722562"/>
            <a:ext cx="692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64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93" name="Google Shape;393;p64"/>
          <p:cNvCxnSpPr>
            <a:stCxn id="392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391;p64">
            <a:extLst>
              <a:ext uri="{FF2B5EF4-FFF2-40B4-BE49-F238E27FC236}">
                <a16:creationId xmlns:a16="http://schemas.microsoft.com/office/drawing/2014/main" id="{DFB87C45-126E-4136-8B24-073ABE41721A}"/>
              </a:ext>
            </a:extLst>
          </p:cNvPr>
          <p:cNvCxnSpPr/>
          <p:nvPr/>
        </p:nvCxnSpPr>
        <p:spPr>
          <a:xfrm>
            <a:off x="-63796" y="2962733"/>
            <a:ext cx="692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411;p66">
            <a:extLst>
              <a:ext uri="{FF2B5EF4-FFF2-40B4-BE49-F238E27FC236}">
                <a16:creationId xmlns:a16="http://schemas.microsoft.com/office/drawing/2014/main" id="{BA67CAE1-09BE-44C1-BBEC-4D0635C65A74}"/>
              </a:ext>
            </a:extLst>
          </p:cNvPr>
          <p:cNvCxnSpPr/>
          <p:nvPr/>
        </p:nvCxnSpPr>
        <p:spPr>
          <a:xfrm>
            <a:off x="2070899" y="1239352"/>
            <a:ext cx="70731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379;p64">
            <a:extLst>
              <a:ext uri="{FF2B5EF4-FFF2-40B4-BE49-F238E27FC236}">
                <a16:creationId xmlns:a16="http://schemas.microsoft.com/office/drawing/2014/main" id="{626BFD40-03A9-4DEC-B27C-66547E47F540}"/>
              </a:ext>
            </a:extLst>
          </p:cNvPr>
          <p:cNvSpPr txBox="1">
            <a:spLocks/>
          </p:cNvSpPr>
          <p:nvPr/>
        </p:nvSpPr>
        <p:spPr>
          <a:xfrm flipH="1">
            <a:off x="695943" y="3354986"/>
            <a:ext cx="733500" cy="1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consolata"/>
              <a:buNone/>
              <a:defRPr sz="3900" b="1" i="0" u="none" strike="noStrike" cap="none">
                <a:solidFill>
                  <a:srgbClr val="C95EFF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6" name="Google Shape;377;p64">
            <a:extLst>
              <a:ext uri="{FF2B5EF4-FFF2-40B4-BE49-F238E27FC236}">
                <a16:creationId xmlns:a16="http://schemas.microsoft.com/office/drawing/2014/main" id="{F50A4BC9-7DD2-42CD-98E1-E702F9A30AE2}"/>
              </a:ext>
            </a:extLst>
          </p:cNvPr>
          <p:cNvSpPr txBox="1">
            <a:spLocks/>
          </p:cNvSpPr>
          <p:nvPr/>
        </p:nvSpPr>
        <p:spPr>
          <a:xfrm flipH="1">
            <a:off x="1466568" y="3814130"/>
            <a:ext cx="6460523" cy="62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1400" dirty="0" err="1"/>
              <a:t>Rancang</a:t>
            </a:r>
            <a:r>
              <a:rPr lang="en-ID" sz="1400" dirty="0"/>
              <a:t> </a:t>
            </a:r>
            <a:r>
              <a:rPr lang="en-ID" sz="1400" dirty="0" err="1"/>
              <a:t>bangun</a:t>
            </a:r>
            <a:r>
              <a:rPr lang="en-ID" sz="1400" dirty="0"/>
              <a:t> </a:t>
            </a:r>
            <a:r>
              <a:rPr lang="en-ID" sz="1400" dirty="0" err="1"/>
              <a:t>elearning</a:t>
            </a:r>
            <a:r>
              <a:rPr lang="en-ID" sz="1400" dirty="0"/>
              <a:t> </a:t>
            </a:r>
            <a:r>
              <a:rPr lang="en-ID" sz="1400" dirty="0" err="1"/>
              <a:t>berbasis</a:t>
            </a:r>
            <a:r>
              <a:rPr lang="en-ID" sz="1400" dirty="0"/>
              <a:t> web pada SMK NEGERI 3 Sumbawa (2021)</a:t>
            </a:r>
            <a:endParaRPr lang="en-ID" sz="1800" dirty="0"/>
          </a:p>
        </p:txBody>
      </p:sp>
      <p:sp>
        <p:nvSpPr>
          <p:cNvPr id="17" name="Google Shape;379;p64">
            <a:extLst>
              <a:ext uri="{FF2B5EF4-FFF2-40B4-BE49-F238E27FC236}">
                <a16:creationId xmlns:a16="http://schemas.microsoft.com/office/drawing/2014/main" id="{86A7D179-1435-4418-AF10-B0DFC5A8BD5D}"/>
              </a:ext>
            </a:extLst>
          </p:cNvPr>
          <p:cNvSpPr txBox="1">
            <a:spLocks/>
          </p:cNvSpPr>
          <p:nvPr/>
        </p:nvSpPr>
        <p:spPr>
          <a:xfrm flipH="1">
            <a:off x="695943" y="3986225"/>
            <a:ext cx="733500" cy="1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6575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consolata"/>
              <a:buNone/>
              <a:defRPr sz="3900" b="1" i="0" u="none" strike="noStrike" cap="none">
                <a:solidFill>
                  <a:srgbClr val="C95EFF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 Medium"/>
              <a:buNone/>
              <a:defRPr sz="4800" b="1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9" name="Google Shape;377;p64">
            <a:extLst>
              <a:ext uri="{FF2B5EF4-FFF2-40B4-BE49-F238E27FC236}">
                <a16:creationId xmlns:a16="http://schemas.microsoft.com/office/drawing/2014/main" id="{ADF2EDC1-B654-4F1D-99A8-AC4F67FCCC5F}"/>
              </a:ext>
            </a:extLst>
          </p:cNvPr>
          <p:cNvSpPr txBox="1">
            <a:spLocks/>
          </p:cNvSpPr>
          <p:nvPr/>
        </p:nvSpPr>
        <p:spPr>
          <a:xfrm flipH="1">
            <a:off x="1466568" y="4482391"/>
            <a:ext cx="6460523" cy="62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consolata"/>
              <a:buNone/>
              <a:defRPr sz="12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1400" dirty="0" err="1"/>
              <a:t>Rancang</a:t>
            </a:r>
            <a:r>
              <a:rPr lang="en-ID" sz="1400" dirty="0"/>
              <a:t> </a:t>
            </a:r>
            <a:r>
              <a:rPr lang="en-ID" sz="1400" dirty="0" err="1"/>
              <a:t>bangun</a:t>
            </a:r>
            <a:r>
              <a:rPr lang="en-ID" sz="1400" dirty="0"/>
              <a:t> </a:t>
            </a:r>
            <a:r>
              <a:rPr lang="en-ID" sz="1400" dirty="0" err="1"/>
              <a:t>elearning</a:t>
            </a:r>
            <a:r>
              <a:rPr lang="en-ID" sz="1400" dirty="0"/>
              <a:t> di SMA Negeri 8 Bogor. (2019)</a:t>
            </a:r>
            <a:endParaRPr lang="en-ID" sz="1800" dirty="0"/>
          </a:p>
        </p:txBody>
      </p:sp>
      <p:cxnSp>
        <p:nvCxnSpPr>
          <p:cNvPr id="20" name="Google Shape;391;p64">
            <a:extLst>
              <a:ext uri="{FF2B5EF4-FFF2-40B4-BE49-F238E27FC236}">
                <a16:creationId xmlns:a16="http://schemas.microsoft.com/office/drawing/2014/main" id="{1D7F8785-D052-49A4-8484-21EC2A2E2AD2}"/>
              </a:ext>
            </a:extLst>
          </p:cNvPr>
          <p:cNvCxnSpPr/>
          <p:nvPr/>
        </p:nvCxnSpPr>
        <p:spPr>
          <a:xfrm>
            <a:off x="0" y="4402761"/>
            <a:ext cx="6927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40561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>
            <a:spLocks noGrp="1"/>
          </p:cNvSpPr>
          <p:nvPr>
            <p:ph type="title"/>
          </p:nvPr>
        </p:nvSpPr>
        <p:spPr>
          <a:xfrm>
            <a:off x="1855607" y="1922012"/>
            <a:ext cx="5693509" cy="1299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Dasar Teori</a:t>
            </a:r>
            <a:endParaRPr sz="7200" dirty="0"/>
          </a:p>
        </p:txBody>
      </p:sp>
      <p:sp>
        <p:nvSpPr>
          <p:cNvPr id="399" name="Google Shape;399;p65"/>
          <p:cNvSpPr txBox="1">
            <a:spLocks noGrp="1"/>
          </p:cNvSpPr>
          <p:nvPr>
            <p:ph type="title" idx="2"/>
          </p:nvPr>
        </p:nvSpPr>
        <p:spPr>
          <a:xfrm>
            <a:off x="1855607" y="702812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401" name="Google Shape;401;p65"/>
          <p:cNvCxnSpPr/>
          <p:nvPr/>
        </p:nvCxnSpPr>
        <p:spPr>
          <a:xfrm>
            <a:off x="713225" y="4099372"/>
            <a:ext cx="7731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65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4" name="Google Shape;404;p65"/>
          <p:cNvCxnSpPr>
            <a:stCxn id="40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589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"/>
          <p:cNvSpPr txBox="1">
            <a:spLocks noGrp="1"/>
          </p:cNvSpPr>
          <p:nvPr>
            <p:ph type="title"/>
          </p:nvPr>
        </p:nvSpPr>
        <p:spPr>
          <a:xfrm>
            <a:off x="606043" y="159580"/>
            <a:ext cx="7714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bg1"/>
                </a:solidFill>
              </a:rPr>
              <a:t>Dasar Teori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29" name="Google Shape;429;p68"/>
          <p:cNvSpPr txBox="1">
            <a:spLocks noGrp="1"/>
          </p:cNvSpPr>
          <p:nvPr>
            <p:ph type="subTitle" idx="5"/>
          </p:nvPr>
        </p:nvSpPr>
        <p:spPr>
          <a:xfrm>
            <a:off x="1906412" y="1361649"/>
            <a:ext cx="182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</a:t>
            </a:r>
            <a:endParaRPr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3" name="Google Shape;433;p68"/>
          <p:cNvSpPr/>
          <p:nvPr/>
        </p:nvSpPr>
        <p:spPr>
          <a:xfrm>
            <a:off x="5984919" y="1092714"/>
            <a:ext cx="5207100" cy="5207100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149BC2-7439-4902-9AAC-FC6F7BC9BC39}"/>
              </a:ext>
            </a:extLst>
          </p:cNvPr>
          <p:cNvGrpSpPr/>
          <p:nvPr/>
        </p:nvGrpSpPr>
        <p:grpSpPr>
          <a:xfrm>
            <a:off x="4726938" y="3003478"/>
            <a:ext cx="542925" cy="536411"/>
            <a:chOff x="1214937" y="3077013"/>
            <a:chExt cx="438781" cy="438821"/>
          </a:xfrm>
        </p:grpSpPr>
        <p:sp>
          <p:nvSpPr>
            <p:cNvPr id="447" name="Google Shape;447;p68"/>
            <p:cNvSpPr/>
            <p:nvPr/>
          </p:nvSpPr>
          <p:spPr>
            <a:xfrm>
              <a:off x="1214937" y="3077013"/>
              <a:ext cx="438781" cy="438821"/>
            </a:xfrm>
            <a:custGeom>
              <a:avLst/>
              <a:gdLst/>
              <a:ahLst/>
              <a:cxnLst/>
              <a:rect l="l" t="t" r="r" b="b"/>
              <a:pathLst>
                <a:path w="10871" h="10872" extrusionOk="0">
                  <a:moveTo>
                    <a:pt x="5608" y="953"/>
                  </a:moveTo>
                  <a:cubicBezTo>
                    <a:pt x="7954" y="1049"/>
                    <a:pt x="9823" y="2918"/>
                    <a:pt x="9918" y="5252"/>
                  </a:cubicBezTo>
                  <a:lnTo>
                    <a:pt x="9502" y="5252"/>
                  </a:lnTo>
                  <a:cubicBezTo>
                    <a:pt x="9406" y="5252"/>
                    <a:pt x="9323" y="5335"/>
                    <a:pt x="9323" y="5442"/>
                  </a:cubicBezTo>
                  <a:cubicBezTo>
                    <a:pt x="9323" y="5525"/>
                    <a:pt x="9394" y="5621"/>
                    <a:pt x="9502" y="5621"/>
                  </a:cubicBezTo>
                  <a:lnTo>
                    <a:pt x="9918" y="5621"/>
                  </a:lnTo>
                  <a:cubicBezTo>
                    <a:pt x="9847" y="7954"/>
                    <a:pt x="7954" y="9824"/>
                    <a:pt x="5608" y="9919"/>
                  </a:cubicBezTo>
                  <a:lnTo>
                    <a:pt x="5608" y="9502"/>
                  </a:lnTo>
                  <a:cubicBezTo>
                    <a:pt x="5608" y="9407"/>
                    <a:pt x="5537" y="9323"/>
                    <a:pt x="5430" y="9323"/>
                  </a:cubicBezTo>
                  <a:cubicBezTo>
                    <a:pt x="5346" y="9323"/>
                    <a:pt x="5251" y="9395"/>
                    <a:pt x="5251" y="9502"/>
                  </a:cubicBezTo>
                  <a:lnTo>
                    <a:pt x="5251" y="9919"/>
                  </a:lnTo>
                  <a:cubicBezTo>
                    <a:pt x="2917" y="9824"/>
                    <a:pt x="1048" y="7954"/>
                    <a:pt x="953" y="5621"/>
                  </a:cubicBezTo>
                  <a:lnTo>
                    <a:pt x="1370" y="5621"/>
                  </a:lnTo>
                  <a:cubicBezTo>
                    <a:pt x="1465" y="5621"/>
                    <a:pt x="1548" y="5537"/>
                    <a:pt x="1548" y="5442"/>
                  </a:cubicBezTo>
                  <a:cubicBezTo>
                    <a:pt x="1548" y="5347"/>
                    <a:pt x="1477" y="5252"/>
                    <a:pt x="1370" y="5252"/>
                  </a:cubicBezTo>
                  <a:lnTo>
                    <a:pt x="953" y="5252"/>
                  </a:lnTo>
                  <a:cubicBezTo>
                    <a:pt x="1048" y="2918"/>
                    <a:pt x="2917" y="1049"/>
                    <a:pt x="5251" y="953"/>
                  </a:cubicBezTo>
                  <a:lnTo>
                    <a:pt x="5251" y="1370"/>
                  </a:lnTo>
                  <a:cubicBezTo>
                    <a:pt x="5251" y="1465"/>
                    <a:pt x="5334" y="1549"/>
                    <a:pt x="5430" y="1549"/>
                  </a:cubicBezTo>
                  <a:cubicBezTo>
                    <a:pt x="5525" y="1549"/>
                    <a:pt x="5608" y="1477"/>
                    <a:pt x="5608" y="1370"/>
                  </a:cubicBezTo>
                  <a:lnTo>
                    <a:pt x="5608" y="953"/>
                  </a:lnTo>
                  <a:close/>
                  <a:moveTo>
                    <a:pt x="5441" y="1"/>
                  </a:moveTo>
                  <a:cubicBezTo>
                    <a:pt x="5346" y="1"/>
                    <a:pt x="5263" y="84"/>
                    <a:pt x="5263" y="179"/>
                  </a:cubicBezTo>
                  <a:lnTo>
                    <a:pt x="5263" y="596"/>
                  </a:lnTo>
                  <a:cubicBezTo>
                    <a:pt x="2727" y="691"/>
                    <a:pt x="691" y="2727"/>
                    <a:pt x="596" y="5263"/>
                  </a:cubicBezTo>
                  <a:lnTo>
                    <a:pt x="179" y="5263"/>
                  </a:lnTo>
                  <a:cubicBezTo>
                    <a:pt x="96" y="5263"/>
                    <a:pt x="0" y="5335"/>
                    <a:pt x="0" y="5442"/>
                  </a:cubicBezTo>
                  <a:cubicBezTo>
                    <a:pt x="0" y="5525"/>
                    <a:pt x="84" y="5621"/>
                    <a:pt x="179" y="5621"/>
                  </a:cubicBezTo>
                  <a:lnTo>
                    <a:pt x="596" y="5621"/>
                  </a:lnTo>
                  <a:cubicBezTo>
                    <a:pt x="691" y="8145"/>
                    <a:pt x="2727" y="10181"/>
                    <a:pt x="5263" y="10276"/>
                  </a:cubicBezTo>
                  <a:lnTo>
                    <a:pt x="5263" y="10693"/>
                  </a:lnTo>
                  <a:cubicBezTo>
                    <a:pt x="5263" y="10776"/>
                    <a:pt x="5334" y="10871"/>
                    <a:pt x="5441" y="10871"/>
                  </a:cubicBezTo>
                  <a:cubicBezTo>
                    <a:pt x="5525" y="10871"/>
                    <a:pt x="5620" y="10800"/>
                    <a:pt x="5620" y="10693"/>
                  </a:cubicBezTo>
                  <a:lnTo>
                    <a:pt x="5620" y="10276"/>
                  </a:lnTo>
                  <a:cubicBezTo>
                    <a:pt x="8144" y="10181"/>
                    <a:pt x="10180" y="8145"/>
                    <a:pt x="10275" y="5621"/>
                  </a:cubicBezTo>
                  <a:lnTo>
                    <a:pt x="10692" y="5621"/>
                  </a:lnTo>
                  <a:cubicBezTo>
                    <a:pt x="10775" y="5621"/>
                    <a:pt x="10871" y="5537"/>
                    <a:pt x="10871" y="5442"/>
                  </a:cubicBezTo>
                  <a:cubicBezTo>
                    <a:pt x="10871" y="5347"/>
                    <a:pt x="10799" y="5263"/>
                    <a:pt x="10692" y="5263"/>
                  </a:cubicBezTo>
                  <a:lnTo>
                    <a:pt x="10275" y="5263"/>
                  </a:lnTo>
                  <a:cubicBezTo>
                    <a:pt x="10180" y="2727"/>
                    <a:pt x="8144" y="691"/>
                    <a:pt x="5620" y="596"/>
                  </a:cubicBezTo>
                  <a:lnTo>
                    <a:pt x="5620" y="179"/>
                  </a:lnTo>
                  <a:cubicBezTo>
                    <a:pt x="5620" y="96"/>
                    <a:pt x="5537" y="1"/>
                    <a:pt x="5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2" name="Google Shape;452;p68"/>
            <p:cNvSpPr/>
            <p:nvPr/>
          </p:nvSpPr>
          <p:spPr>
            <a:xfrm>
              <a:off x="1289615" y="3140682"/>
              <a:ext cx="311999" cy="302125"/>
            </a:xfrm>
            <a:custGeom>
              <a:avLst/>
              <a:gdLst/>
              <a:ahLst/>
              <a:cxnLst/>
              <a:rect l="l" t="t" r="r" b="b"/>
              <a:pathLst>
                <a:path w="4275" h="4251" extrusionOk="0">
                  <a:moveTo>
                    <a:pt x="1953" y="739"/>
                  </a:moveTo>
                  <a:cubicBezTo>
                    <a:pt x="2322" y="739"/>
                    <a:pt x="2655" y="882"/>
                    <a:pt x="2917" y="1084"/>
                  </a:cubicBezTo>
                  <a:lnTo>
                    <a:pt x="1822" y="2179"/>
                  </a:lnTo>
                  <a:cubicBezTo>
                    <a:pt x="1750" y="2263"/>
                    <a:pt x="1750" y="2382"/>
                    <a:pt x="1822" y="2441"/>
                  </a:cubicBezTo>
                  <a:cubicBezTo>
                    <a:pt x="1845" y="2465"/>
                    <a:pt x="1905" y="2501"/>
                    <a:pt x="1953" y="2501"/>
                  </a:cubicBezTo>
                  <a:cubicBezTo>
                    <a:pt x="2000" y="2501"/>
                    <a:pt x="2048" y="2477"/>
                    <a:pt x="2084" y="2441"/>
                  </a:cubicBezTo>
                  <a:lnTo>
                    <a:pt x="2643" y="1882"/>
                  </a:lnTo>
                  <a:cubicBezTo>
                    <a:pt x="2715" y="2001"/>
                    <a:pt x="2762" y="2155"/>
                    <a:pt x="2762" y="2298"/>
                  </a:cubicBezTo>
                  <a:cubicBezTo>
                    <a:pt x="2762" y="2739"/>
                    <a:pt x="2405" y="3096"/>
                    <a:pt x="1965" y="3096"/>
                  </a:cubicBezTo>
                  <a:cubicBezTo>
                    <a:pt x="1536" y="3096"/>
                    <a:pt x="1179" y="2739"/>
                    <a:pt x="1179" y="2298"/>
                  </a:cubicBezTo>
                  <a:cubicBezTo>
                    <a:pt x="1179" y="1870"/>
                    <a:pt x="1536" y="1513"/>
                    <a:pt x="1965" y="1513"/>
                  </a:cubicBezTo>
                  <a:cubicBezTo>
                    <a:pt x="2072" y="1513"/>
                    <a:pt x="2143" y="1441"/>
                    <a:pt x="2143" y="1334"/>
                  </a:cubicBezTo>
                  <a:cubicBezTo>
                    <a:pt x="2143" y="1227"/>
                    <a:pt x="2072" y="1155"/>
                    <a:pt x="1965" y="1155"/>
                  </a:cubicBezTo>
                  <a:cubicBezTo>
                    <a:pt x="1334" y="1155"/>
                    <a:pt x="822" y="1679"/>
                    <a:pt x="822" y="2298"/>
                  </a:cubicBezTo>
                  <a:cubicBezTo>
                    <a:pt x="822" y="2941"/>
                    <a:pt x="1345" y="3453"/>
                    <a:pt x="1965" y="3453"/>
                  </a:cubicBezTo>
                  <a:cubicBezTo>
                    <a:pt x="2607" y="3453"/>
                    <a:pt x="3119" y="2929"/>
                    <a:pt x="3119" y="2298"/>
                  </a:cubicBezTo>
                  <a:cubicBezTo>
                    <a:pt x="3119" y="2060"/>
                    <a:pt x="3036" y="1822"/>
                    <a:pt x="2893" y="1632"/>
                  </a:cubicBezTo>
                  <a:lnTo>
                    <a:pt x="3191" y="1334"/>
                  </a:lnTo>
                  <a:cubicBezTo>
                    <a:pt x="3381" y="1608"/>
                    <a:pt x="3512" y="1953"/>
                    <a:pt x="3512" y="2310"/>
                  </a:cubicBezTo>
                  <a:cubicBezTo>
                    <a:pt x="3512" y="3168"/>
                    <a:pt x="2822" y="3870"/>
                    <a:pt x="1953" y="3870"/>
                  </a:cubicBezTo>
                  <a:cubicBezTo>
                    <a:pt x="1095" y="3870"/>
                    <a:pt x="393" y="3168"/>
                    <a:pt x="393" y="2310"/>
                  </a:cubicBezTo>
                  <a:cubicBezTo>
                    <a:pt x="393" y="1441"/>
                    <a:pt x="1095" y="739"/>
                    <a:pt x="1953" y="739"/>
                  </a:cubicBezTo>
                  <a:close/>
                  <a:moveTo>
                    <a:pt x="3500" y="0"/>
                  </a:moveTo>
                  <a:cubicBezTo>
                    <a:pt x="3393" y="0"/>
                    <a:pt x="3322" y="72"/>
                    <a:pt x="3322" y="179"/>
                  </a:cubicBezTo>
                  <a:lnTo>
                    <a:pt x="3322" y="679"/>
                  </a:lnTo>
                  <a:lnTo>
                    <a:pt x="3179" y="834"/>
                  </a:lnTo>
                  <a:cubicBezTo>
                    <a:pt x="2846" y="548"/>
                    <a:pt x="2417" y="381"/>
                    <a:pt x="1941" y="381"/>
                  </a:cubicBezTo>
                  <a:cubicBezTo>
                    <a:pt x="869" y="381"/>
                    <a:pt x="0" y="1251"/>
                    <a:pt x="0" y="2322"/>
                  </a:cubicBezTo>
                  <a:cubicBezTo>
                    <a:pt x="0" y="3394"/>
                    <a:pt x="869" y="4251"/>
                    <a:pt x="1941" y="4251"/>
                  </a:cubicBezTo>
                  <a:cubicBezTo>
                    <a:pt x="3012" y="4251"/>
                    <a:pt x="3870" y="3394"/>
                    <a:pt x="3870" y="2322"/>
                  </a:cubicBezTo>
                  <a:cubicBezTo>
                    <a:pt x="3870" y="1858"/>
                    <a:pt x="3715" y="1429"/>
                    <a:pt x="3429" y="1084"/>
                  </a:cubicBezTo>
                  <a:lnTo>
                    <a:pt x="3572" y="941"/>
                  </a:lnTo>
                  <a:lnTo>
                    <a:pt x="4084" y="941"/>
                  </a:lnTo>
                  <a:cubicBezTo>
                    <a:pt x="4191" y="941"/>
                    <a:pt x="4262" y="858"/>
                    <a:pt x="4262" y="751"/>
                  </a:cubicBezTo>
                  <a:cubicBezTo>
                    <a:pt x="4262" y="655"/>
                    <a:pt x="4191" y="584"/>
                    <a:pt x="4084" y="584"/>
                  </a:cubicBezTo>
                  <a:lnTo>
                    <a:pt x="3929" y="584"/>
                  </a:lnTo>
                  <a:lnTo>
                    <a:pt x="4203" y="310"/>
                  </a:lnTo>
                  <a:cubicBezTo>
                    <a:pt x="4274" y="239"/>
                    <a:pt x="4274" y="120"/>
                    <a:pt x="4203" y="60"/>
                  </a:cubicBezTo>
                  <a:cubicBezTo>
                    <a:pt x="4167" y="24"/>
                    <a:pt x="4120" y="6"/>
                    <a:pt x="4073" y="6"/>
                  </a:cubicBezTo>
                  <a:cubicBezTo>
                    <a:pt x="4027" y="6"/>
                    <a:pt x="3983" y="24"/>
                    <a:pt x="3953" y="60"/>
                  </a:cubicBezTo>
                  <a:lnTo>
                    <a:pt x="3679" y="322"/>
                  </a:lnTo>
                  <a:lnTo>
                    <a:pt x="3679" y="179"/>
                  </a:lnTo>
                  <a:cubicBezTo>
                    <a:pt x="3679" y="72"/>
                    <a:pt x="3608" y="0"/>
                    <a:pt x="35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8" name="Google Shape;458;p68"/>
          <p:cNvSpPr/>
          <p:nvPr/>
        </p:nvSpPr>
        <p:spPr>
          <a:xfrm flipH="1">
            <a:off x="7602925" y="915000"/>
            <a:ext cx="2316600" cy="23166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456;p68">
            <a:extLst>
              <a:ext uri="{FF2B5EF4-FFF2-40B4-BE49-F238E27FC236}">
                <a16:creationId xmlns:a16="http://schemas.microsoft.com/office/drawing/2014/main" id="{55386E0D-9361-46ED-A864-712C5FC838B9}"/>
              </a:ext>
            </a:extLst>
          </p:cNvPr>
          <p:cNvCxnSpPr/>
          <p:nvPr/>
        </p:nvCxnSpPr>
        <p:spPr>
          <a:xfrm>
            <a:off x="1251300" y="934503"/>
            <a:ext cx="7892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9F1983-DEEA-4CE1-96BA-50391732E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49" y="1314256"/>
            <a:ext cx="620093" cy="6200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B10EC4-9A3D-484A-B7F1-D8051E969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32" y="2993871"/>
            <a:ext cx="546019" cy="5460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176E7A-B257-4C14-AAEF-DF23640C3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442" y="2070815"/>
            <a:ext cx="609600" cy="609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9A22B4-1EAB-4B3B-87C6-56B99DC01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0276" y="1349643"/>
            <a:ext cx="476250" cy="476250"/>
          </a:xfrm>
          <a:prstGeom prst="rect">
            <a:avLst/>
          </a:prstGeom>
        </p:spPr>
      </p:pic>
      <p:sp>
        <p:nvSpPr>
          <p:cNvPr id="50" name="Google Shape;429;p68">
            <a:extLst>
              <a:ext uri="{FF2B5EF4-FFF2-40B4-BE49-F238E27FC236}">
                <a16:creationId xmlns:a16="http://schemas.microsoft.com/office/drawing/2014/main" id="{490FF202-8435-4F9F-805D-2271275ED583}"/>
              </a:ext>
            </a:extLst>
          </p:cNvPr>
          <p:cNvSpPr txBox="1">
            <a:spLocks/>
          </p:cNvSpPr>
          <p:nvPr/>
        </p:nvSpPr>
        <p:spPr>
          <a:xfrm>
            <a:off x="1906412" y="2980530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D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Laravel</a:t>
            </a:r>
          </a:p>
        </p:txBody>
      </p:sp>
      <p:sp>
        <p:nvSpPr>
          <p:cNvPr id="51" name="Google Shape;429;p68">
            <a:extLst>
              <a:ext uri="{FF2B5EF4-FFF2-40B4-BE49-F238E27FC236}">
                <a16:creationId xmlns:a16="http://schemas.microsoft.com/office/drawing/2014/main" id="{271B1745-6737-45E4-B05B-0F7E61072FAB}"/>
              </a:ext>
            </a:extLst>
          </p:cNvPr>
          <p:cNvSpPr txBox="1">
            <a:spLocks/>
          </p:cNvSpPr>
          <p:nvPr/>
        </p:nvSpPr>
        <p:spPr>
          <a:xfrm>
            <a:off x="1894707" y="2107715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D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E-learning</a:t>
            </a:r>
          </a:p>
        </p:txBody>
      </p:sp>
      <p:sp>
        <p:nvSpPr>
          <p:cNvPr id="52" name="Google Shape;429;p68">
            <a:extLst>
              <a:ext uri="{FF2B5EF4-FFF2-40B4-BE49-F238E27FC236}">
                <a16:creationId xmlns:a16="http://schemas.microsoft.com/office/drawing/2014/main" id="{7AE8A306-D1F4-4F2F-8BF0-1811A98813B8}"/>
              </a:ext>
            </a:extLst>
          </p:cNvPr>
          <p:cNvSpPr txBox="1">
            <a:spLocks/>
          </p:cNvSpPr>
          <p:nvPr/>
        </p:nvSpPr>
        <p:spPr>
          <a:xfrm>
            <a:off x="5433266" y="1301418"/>
            <a:ext cx="182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D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MySQL</a:t>
            </a:r>
          </a:p>
        </p:txBody>
      </p:sp>
      <p:sp>
        <p:nvSpPr>
          <p:cNvPr id="53" name="Google Shape;429;p68">
            <a:extLst>
              <a:ext uri="{FF2B5EF4-FFF2-40B4-BE49-F238E27FC236}">
                <a16:creationId xmlns:a16="http://schemas.microsoft.com/office/drawing/2014/main" id="{DFA5414D-D8B2-4756-A8BF-12076FD4DC74}"/>
              </a:ext>
            </a:extLst>
          </p:cNvPr>
          <p:cNvSpPr txBox="1">
            <a:spLocks/>
          </p:cNvSpPr>
          <p:nvPr/>
        </p:nvSpPr>
        <p:spPr>
          <a:xfrm>
            <a:off x="5406006" y="3003479"/>
            <a:ext cx="27758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D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Metode</a:t>
            </a:r>
            <a:r>
              <a:rPr lang="en-ID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Prototype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7669736-C502-464F-AB21-6B07558D4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3601" y="2118198"/>
            <a:ext cx="609600" cy="609600"/>
          </a:xfrm>
          <a:prstGeom prst="rect">
            <a:avLst/>
          </a:prstGeom>
        </p:spPr>
      </p:pic>
      <p:sp>
        <p:nvSpPr>
          <p:cNvPr id="56" name="Google Shape;429;p68">
            <a:extLst>
              <a:ext uri="{FF2B5EF4-FFF2-40B4-BE49-F238E27FC236}">
                <a16:creationId xmlns:a16="http://schemas.microsoft.com/office/drawing/2014/main" id="{237B0528-5C2A-4518-9234-A299939DCE6F}"/>
              </a:ext>
            </a:extLst>
          </p:cNvPr>
          <p:cNvSpPr txBox="1">
            <a:spLocks/>
          </p:cNvSpPr>
          <p:nvPr/>
        </p:nvSpPr>
        <p:spPr>
          <a:xfrm>
            <a:off x="5406006" y="2118198"/>
            <a:ext cx="277583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3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ebas Neue"/>
              <a:buNone/>
              <a:defRPr sz="1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US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Blackbox Testing</a:t>
            </a:r>
            <a:endParaRPr lang="en-ID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>
            <a:spLocks noGrp="1"/>
          </p:cNvSpPr>
          <p:nvPr>
            <p:ph type="title"/>
          </p:nvPr>
        </p:nvSpPr>
        <p:spPr>
          <a:xfrm>
            <a:off x="950573" y="2308542"/>
            <a:ext cx="7256304" cy="14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Subjek</a:t>
            </a:r>
            <a:r>
              <a:rPr lang="en-US" dirty="0"/>
              <a:t> dan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dirty="0"/>
          </a:p>
        </p:txBody>
      </p:sp>
      <p:sp>
        <p:nvSpPr>
          <p:cNvPr id="399" name="Google Shape;399;p65"/>
          <p:cNvSpPr txBox="1">
            <a:spLocks noGrp="1"/>
          </p:cNvSpPr>
          <p:nvPr>
            <p:ph type="title" idx="2"/>
          </p:nvPr>
        </p:nvSpPr>
        <p:spPr>
          <a:xfrm>
            <a:off x="950573" y="1089342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401" name="Google Shape;401;p65"/>
          <p:cNvCxnSpPr/>
          <p:nvPr/>
        </p:nvCxnSpPr>
        <p:spPr>
          <a:xfrm>
            <a:off x="713225" y="4099372"/>
            <a:ext cx="7731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65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4" name="Google Shape;404;p65"/>
          <p:cNvCxnSpPr>
            <a:stCxn id="40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67437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3"/>
          <p:cNvSpPr txBox="1">
            <a:spLocks noGrp="1"/>
          </p:cNvSpPr>
          <p:nvPr>
            <p:ph type="ctrTitle"/>
          </p:nvPr>
        </p:nvSpPr>
        <p:spPr>
          <a:xfrm>
            <a:off x="708600" y="341524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Subjek dan Objek Penelitian</a:t>
            </a:r>
            <a:endParaRPr dirty="0"/>
          </a:p>
        </p:txBody>
      </p:sp>
      <p:cxnSp>
        <p:nvCxnSpPr>
          <p:cNvPr id="1159" name="Google Shape;1159;p103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0" name="Google Shape;1160;p103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rgbClr val="21212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1149;p103">
            <a:extLst>
              <a:ext uri="{FF2B5EF4-FFF2-40B4-BE49-F238E27FC236}">
                <a16:creationId xmlns:a16="http://schemas.microsoft.com/office/drawing/2014/main" id="{A019EA75-7E7B-41EB-AEB8-5B9919AA7C21}"/>
              </a:ext>
            </a:extLst>
          </p:cNvPr>
          <p:cNvSpPr txBox="1">
            <a:spLocks/>
          </p:cNvSpPr>
          <p:nvPr/>
        </p:nvSpPr>
        <p:spPr>
          <a:xfrm>
            <a:off x="766658" y="1448346"/>
            <a:ext cx="3203000" cy="70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2800" b="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Subjek</a:t>
            </a:r>
            <a:r>
              <a:rPr lang="en-ID" sz="2800" b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800" b="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Penelitian</a:t>
            </a:r>
            <a:endParaRPr lang="en-ID" sz="2800" b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Google Shape;1149;p103">
            <a:extLst>
              <a:ext uri="{FF2B5EF4-FFF2-40B4-BE49-F238E27FC236}">
                <a16:creationId xmlns:a16="http://schemas.microsoft.com/office/drawing/2014/main" id="{36DDC658-AF56-4766-AB95-1D455974C696}"/>
              </a:ext>
            </a:extLst>
          </p:cNvPr>
          <p:cNvSpPr txBox="1">
            <a:spLocks/>
          </p:cNvSpPr>
          <p:nvPr/>
        </p:nvSpPr>
        <p:spPr>
          <a:xfrm>
            <a:off x="766658" y="3024951"/>
            <a:ext cx="3203000" cy="70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2800" b="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Objek</a:t>
            </a:r>
            <a:r>
              <a:rPr lang="en-ID" sz="2800" b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2800" b="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Penelitian</a:t>
            </a:r>
            <a:endParaRPr lang="en-ID" sz="2800" b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Google Shape;1149;p103">
            <a:extLst>
              <a:ext uri="{FF2B5EF4-FFF2-40B4-BE49-F238E27FC236}">
                <a16:creationId xmlns:a16="http://schemas.microsoft.com/office/drawing/2014/main" id="{56625ED7-EAE3-4B32-83CC-65DEFA3732F2}"/>
              </a:ext>
            </a:extLst>
          </p:cNvPr>
          <p:cNvSpPr txBox="1">
            <a:spLocks/>
          </p:cNvSpPr>
          <p:nvPr/>
        </p:nvSpPr>
        <p:spPr>
          <a:xfrm>
            <a:off x="766657" y="2014403"/>
            <a:ext cx="7288771" cy="76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Subjek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penelitian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para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rehabilitasi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napza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kementrian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sosial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BP Digital Solutions</a:t>
            </a:r>
            <a:endParaRPr lang="en-ID" sz="2800" b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Google Shape;1149;p103">
            <a:extLst>
              <a:ext uri="{FF2B5EF4-FFF2-40B4-BE49-F238E27FC236}">
                <a16:creationId xmlns:a16="http://schemas.microsoft.com/office/drawing/2014/main" id="{98BDA2CD-353F-42D7-A0CB-B5894D61E803}"/>
              </a:ext>
            </a:extLst>
          </p:cNvPr>
          <p:cNvSpPr txBox="1">
            <a:spLocks/>
          </p:cNvSpPr>
          <p:nvPr/>
        </p:nvSpPr>
        <p:spPr>
          <a:xfrm>
            <a:off x="766657" y="3591008"/>
            <a:ext cx="7288771" cy="101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Sedangkan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objek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penelitian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e-learning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rehabilitasi</a:t>
            </a:r>
            <a:r>
              <a:rPr lang="en-ID" sz="14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D" sz="1400" b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napza</a:t>
            </a:r>
            <a:endParaRPr lang="en-ID" sz="4800" b="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1" name="Google Shape;456;p68">
            <a:extLst>
              <a:ext uri="{FF2B5EF4-FFF2-40B4-BE49-F238E27FC236}">
                <a16:creationId xmlns:a16="http://schemas.microsoft.com/office/drawing/2014/main" id="{04AADEC4-E762-4C77-89F7-5527D9C14CF3}"/>
              </a:ext>
            </a:extLst>
          </p:cNvPr>
          <p:cNvCxnSpPr/>
          <p:nvPr/>
        </p:nvCxnSpPr>
        <p:spPr>
          <a:xfrm>
            <a:off x="1251300" y="1173989"/>
            <a:ext cx="7892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>
            <a:spLocks noGrp="1"/>
          </p:cNvSpPr>
          <p:nvPr>
            <p:ph type="title"/>
          </p:nvPr>
        </p:nvSpPr>
        <p:spPr>
          <a:xfrm>
            <a:off x="1208204" y="2291338"/>
            <a:ext cx="6741042" cy="739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Alat dan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dirty="0"/>
          </a:p>
        </p:txBody>
      </p:sp>
      <p:sp>
        <p:nvSpPr>
          <p:cNvPr id="399" name="Google Shape;399;p65"/>
          <p:cNvSpPr txBox="1">
            <a:spLocks noGrp="1"/>
          </p:cNvSpPr>
          <p:nvPr>
            <p:ph type="title" idx="2"/>
          </p:nvPr>
        </p:nvSpPr>
        <p:spPr>
          <a:xfrm>
            <a:off x="1208204" y="1044127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401" name="Google Shape;401;p65"/>
          <p:cNvCxnSpPr/>
          <p:nvPr/>
        </p:nvCxnSpPr>
        <p:spPr>
          <a:xfrm>
            <a:off x="713225" y="4099372"/>
            <a:ext cx="7731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65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4" name="Google Shape;404;p65"/>
          <p:cNvCxnSpPr>
            <a:stCxn id="40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93334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3"/>
          <p:cNvSpPr txBox="1">
            <a:spLocks noGrp="1"/>
          </p:cNvSpPr>
          <p:nvPr>
            <p:ph type="ctrTitle"/>
          </p:nvPr>
        </p:nvSpPr>
        <p:spPr>
          <a:xfrm>
            <a:off x="708600" y="341524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Alat dan Bahan Penelitian</a:t>
            </a:r>
            <a:endParaRPr dirty="0"/>
          </a:p>
        </p:txBody>
      </p:sp>
      <p:graphicFrame>
        <p:nvGraphicFramePr>
          <p:cNvPr id="1156" name="Google Shape;1156;p103"/>
          <p:cNvGraphicFramePr/>
          <p:nvPr>
            <p:extLst>
              <p:ext uri="{D42A27DB-BD31-4B8C-83A1-F6EECF244321}">
                <p14:modId xmlns:p14="http://schemas.microsoft.com/office/powerpoint/2010/main" val="2206761050"/>
              </p:ext>
            </p:extLst>
          </p:nvPr>
        </p:nvGraphicFramePr>
        <p:xfrm>
          <a:off x="801189" y="1505725"/>
          <a:ext cx="3063240" cy="2712127"/>
        </p:xfrm>
        <a:graphic>
          <a:graphicData uri="http://schemas.openxmlformats.org/drawingml/2006/table">
            <a:tbl>
              <a:tblPr>
                <a:noFill/>
                <a:tableStyleId>{7E755F20-66C8-48CD-AA50-4437A046BB90}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26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>
                          <a:solidFill>
                            <a:schemeClr val="dk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Perangkat Keras</a:t>
                      </a:r>
                      <a:endParaRPr sz="2800" b="1" dirty="0">
                        <a:solidFill>
                          <a:schemeClr val="dk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9863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Inconsolata"/>
                        </a:rPr>
                        <a:t>Laptop Acer Nitro 5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Inconsolata"/>
                        </a:rPr>
                        <a:t>RAM 8 GB </a:t>
                      </a:r>
                      <a:r>
                        <a:rPr lang="en-ID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DDR4-2400</a:t>
                      </a:r>
                      <a:endParaRPr lang="en-US" sz="1600" b="0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Inconsolata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600" b="0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Inconsolata"/>
                        </a:rPr>
                        <a:t>HDD 1 TB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AMD </a:t>
                      </a:r>
                      <a:r>
                        <a:rPr lang="en-ID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Ryzen</a:t>
                      </a:r>
                      <a:r>
                        <a:rPr lang="en-ID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 5 3550H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Radeon Vega 8 Graphics </a:t>
                      </a:r>
                      <a:endParaRPr lang="en-US" sz="1600" b="0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Inconsolata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AMD Radeon™ RX 460X </a:t>
                      </a:r>
                      <a:endParaRPr sz="1600" b="1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Inconsolat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59" name="Google Shape;1159;p103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0" name="Google Shape;1160;p103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rgbClr val="21212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" name="Google Shape;456;p68">
            <a:extLst>
              <a:ext uri="{FF2B5EF4-FFF2-40B4-BE49-F238E27FC236}">
                <a16:creationId xmlns:a16="http://schemas.microsoft.com/office/drawing/2014/main" id="{F5630103-8112-4E65-A1AB-D8642B4CFF15}"/>
              </a:ext>
            </a:extLst>
          </p:cNvPr>
          <p:cNvCxnSpPr/>
          <p:nvPr/>
        </p:nvCxnSpPr>
        <p:spPr>
          <a:xfrm>
            <a:off x="1251300" y="1173989"/>
            <a:ext cx="7892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" name="Google Shape;1156;p103">
            <a:extLst>
              <a:ext uri="{FF2B5EF4-FFF2-40B4-BE49-F238E27FC236}">
                <a16:creationId xmlns:a16="http://schemas.microsoft.com/office/drawing/2014/main" id="{3B2981CC-2742-48B3-A9B8-D595857B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9217820"/>
              </p:ext>
            </p:extLst>
          </p:nvPr>
        </p:nvGraphicFramePr>
        <p:xfrm>
          <a:off x="4930503" y="1505724"/>
          <a:ext cx="3063240" cy="2712127"/>
        </p:xfrm>
        <a:graphic>
          <a:graphicData uri="http://schemas.openxmlformats.org/drawingml/2006/table">
            <a:tbl>
              <a:tblPr>
                <a:noFill/>
                <a:tableStyleId>{7E755F20-66C8-48CD-AA50-4437A046BB90}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26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>
                          <a:solidFill>
                            <a:schemeClr val="dk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Perangkat Lunak</a:t>
                      </a:r>
                      <a:endParaRPr sz="2800" b="1" dirty="0">
                        <a:solidFill>
                          <a:schemeClr val="dk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9863">
                <a:tc>
                  <a:txBody>
                    <a:bodyPr/>
                    <a:lstStyle/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Visual Studio Code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Laravel 8</a:t>
                      </a:r>
                      <a:endParaRPr lang="en-US" sz="1600" b="0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Inconsolata"/>
                      </a:endParaRP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Browser Google Chrome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b="0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Inconsolata"/>
                        </a:rPr>
                        <a:t>XAMPP</a:t>
                      </a:r>
                    </a:p>
                    <a:p>
                      <a:pPr marL="2857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D" sz="1600" b="0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Inconsolata"/>
                        </a:rPr>
                        <a:t>Livewire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285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>
            <a:spLocks noGrp="1"/>
          </p:cNvSpPr>
          <p:nvPr>
            <p:ph type="title"/>
          </p:nvPr>
        </p:nvSpPr>
        <p:spPr>
          <a:xfrm>
            <a:off x="1513004" y="2376398"/>
            <a:ext cx="6741042" cy="739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 </a:t>
            </a:r>
            <a:r>
              <a:rPr lang="en-US" dirty="0" err="1"/>
              <a:t>Alir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dirty="0"/>
          </a:p>
        </p:txBody>
      </p:sp>
      <p:sp>
        <p:nvSpPr>
          <p:cNvPr id="399" name="Google Shape;399;p65"/>
          <p:cNvSpPr txBox="1">
            <a:spLocks noGrp="1"/>
          </p:cNvSpPr>
          <p:nvPr>
            <p:ph type="title" idx="2"/>
          </p:nvPr>
        </p:nvSpPr>
        <p:spPr>
          <a:xfrm>
            <a:off x="1463385" y="1044127"/>
            <a:ext cx="23793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401" name="Google Shape;401;p65"/>
          <p:cNvCxnSpPr/>
          <p:nvPr/>
        </p:nvCxnSpPr>
        <p:spPr>
          <a:xfrm>
            <a:off x="713225" y="4099372"/>
            <a:ext cx="7731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65"/>
          <p:cNvSpPr txBox="1"/>
          <p:nvPr/>
        </p:nvSpPr>
        <p:spPr>
          <a:xfrm>
            <a:off x="7038075" y="256175"/>
            <a:ext cx="1154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4" name="Google Shape;404;p65"/>
          <p:cNvCxnSpPr>
            <a:stCxn id="403" idx="3"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6861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03"/>
          <p:cNvSpPr txBox="1">
            <a:spLocks noGrp="1"/>
          </p:cNvSpPr>
          <p:nvPr>
            <p:ph type="ctrTitle"/>
          </p:nvPr>
        </p:nvSpPr>
        <p:spPr>
          <a:xfrm>
            <a:off x="708600" y="341524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Subjek dan Objek Penelitian</a:t>
            </a:r>
            <a:endParaRPr dirty="0"/>
          </a:p>
        </p:txBody>
      </p:sp>
      <p:cxnSp>
        <p:nvCxnSpPr>
          <p:cNvPr id="1159" name="Google Shape;1159;p103"/>
          <p:cNvCxnSpPr/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0" name="Google Shape;1160;p103"/>
          <p:cNvSpPr txBox="1"/>
          <p:nvPr/>
        </p:nvSpPr>
        <p:spPr>
          <a:xfrm>
            <a:off x="6859575" y="256175"/>
            <a:ext cx="13329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12121"/>
                </a:solidFill>
                <a:latin typeface="Open Sans"/>
                <a:ea typeface="Open Sans"/>
                <a:cs typeface="Open Sans"/>
                <a:sym typeface="Open Sans"/>
              </a:rPr>
              <a:t>2022</a:t>
            </a:r>
            <a:endParaRPr dirty="0">
              <a:solidFill>
                <a:srgbClr val="21212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" name="Google Shape;456;p68">
            <a:extLst>
              <a:ext uri="{FF2B5EF4-FFF2-40B4-BE49-F238E27FC236}">
                <a16:creationId xmlns:a16="http://schemas.microsoft.com/office/drawing/2014/main" id="{04AADEC4-E762-4C77-89F7-5527D9C14CF3}"/>
              </a:ext>
            </a:extLst>
          </p:cNvPr>
          <p:cNvCxnSpPr/>
          <p:nvPr/>
        </p:nvCxnSpPr>
        <p:spPr>
          <a:xfrm>
            <a:off x="1251300" y="1173989"/>
            <a:ext cx="7892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6158F40-DB7E-4CD9-B1F8-A635DCD9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8" y="1205607"/>
            <a:ext cx="2068284" cy="1036849"/>
          </a:xfrm>
          <a:prstGeom prst="rect">
            <a:avLst/>
          </a:prstGeom>
        </p:spPr>
      </p:pic>
      <p:sp>
        <p:nvSpPr>
          <p:cNvPr id="18" name="Google Shape;1149;p103">
            <a:extLst>
              <a:ext uri="{FF2B5EF4-FFF2-40B4-BE49-F238E27FC236}">
                <a16:creationId xmlns:a16="http://schemas.microsoft.com/office/drawing/2014/main" id="{E6C0DDD7-ED97-4821-BF3D-9281014F3707}"/>
              </a:ext>
            </a:extLst>
          </p:cNvPr>
          <p:cNvSpPr txBox="1">
            <a:spLocks/>
          </p:cNvSpPr>
          <p:nvPr/>
        </p:nvSpPr>
        <p:spPr>
          <a:xfrm>
            <a:off x="1059546" y="1497439"/>
            <a:ext cx="179251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1400" b="0" dirty="0" err="1"/>
              <a:t>Studi</a:t>
            </a:r>
            <a:r>
              <a:rPr lang="en-US" sz="1400" b="0" dirty="0"/>
              <a:t> </a:t>
            </a:r>
            <a:r>
              <a:rPr lang="en-US" sz="1400" b="0" dirty="0" err="1"/>
              <a:t>Pendahuluan</a:t>
            </a:r>
            <a:endParaRPr lang="en-ID" sz="1400" b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21A06C-7ED6-491D-8464-4BAD4ED2C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8" y="2151807"/>
            <a:ext cx="2068284" cy="1036849"/>
          </a:xfrm>
          <a:prstGeom prst="rect">
            <a:avLst/>
          </a:prstGeom>
        </p:spPr>
      </p:pic>
      <p:sp>
        <p:nvSpPr>
          <p:cNvPr id="20" name="Google Shape;1149;p103">
            <a:extLst>
              <a:ext uri="{FF2B5EF4-FFF2-40B4-BE49-F238E27FC236}">
                <a16:creationId xmlns:a16="http://schemas.microsoft.com/office/drawing/2014/main" id="{97BE2363-13A8-4D48-9F59-30371D94A779}"/>
              </a:ext>
            </a:extLst>
          </p:cNvPr>
          <p:cNvSpPr txBox="1">
            <a:spLocks/>
          </p:cNvSpPr>
          <p:nvPr/>
        </p:nvSpPr>
        <p:spPr>
          <a:xfrm>
            <a:off x="1086356" y="2449519"/>
            <a:ext cx="179251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1400" b="0" dirty="0" err="1"/>
              <a:t>Pengumpulan</a:t>
            </a:r>
            <a:r>
              <a:rPr lang="en-US" sz="1400" b="0" dirty="0"/>
              <a:t> Data</a:t>
            </a:r>
            <a:endParaRPr lang="en-ID" sz="1400" b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C4BC0E-9B99-43DF-823D-908506404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8" y="3106539"/>
            <a:ext cx="2068284" cy="1036849"/>
          </a:xfrm>
          <a:prstGeom prst="rect">
            <a:avLst/>
          </a:prstGeom>
        </p:spPr>
      </p:pic>
      <p:sp>
        <p:nvSpPr>
          <p:cNvPr id="22" name="Google Shape;1149;p103">
            <a:extLst>
              <a:ext uri="{FF2B5EF4-FFF2-40B4-BE49-F238E27FC236}">
                <a16:creationId xmlns:a16="http://schemas.microsoft.com/office/drawing/2014/main" id="{837EC1B8-5E79-47F9-B4CD-1258442E2605}"/>
              </a:ext>
            </a:extLst>
          </p:cNvPr>
          <p:cNvSpPr txBox="1">
            <a:spLocks/>
          </p:cNvSpPr>
          <p:nvPr/>
        </p:nvSpPr>
        <p:spPr>
          <a:xfrm>
            <a:off x="986974" y="3430559"/>
            <a:ext cx="179251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1400" b="0" dirty="0" err="1"/>
              <a:t>Perancangan</a:t>
            </a:r>
            <a:r>
              <a:rPr lang="en-US" sz="1400" b="0" dirty="0"/>
              <a:t> </a:t>
            </a:r>
            <a:r>
              <a:rPr lang="en-US" sz="1400" b="0" dirty="0" err="1"/>
              <a:t>Sistem</a:t>
            </a:r>
            <a:endParaRPr lang="en-ID" sz="1400" b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ED0A13-A372-4E8D-BB15-F8C6BA58E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8" y="4044206"/>
            <a:ext cx="2068284" cy="1036849"/>
          </a:xfrm>
          <a:prstGeom prst="rect">
            <a:avLst/>
          </a:prstGeom>
        </p:spPr>
      </p:pic>
      <p:sp>
        <p:nvSpPr>
          <p:cNvPr id="24" name="Google Shape;1149;p103">
            <a:extLst>
              <a:ext uri="{FF2B5EF4-FFF2-40B4-BE49-F238E27FC236}">
                <a16:creationId xmlns:a16="http://schemas.microsoft.com/office/drawing/2014/main" id="{960B47E3-93B8-44C6-98B1-EC57D41C13EF}"/>
              </a:ext>
            </a:extLst>
          </p:cNvPr>
          <p:cNvSpPr txBox="1">
            <a:spLocks/>
          </p:cNvSpPr>
          <p:nvPr/>
        </p:nvSpPr>
        <p:spPr>
          <a:xfrm>
            <a:off x="1328060" y="4376758"/>
            <a:ext cx="1110340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r>
              <a:rPr lang="en-US" sz="1400" b="0" dirty="0"/>
              <a:t>Kesimpulan</a:t>
            </a:r>
            <a:endParaRPr lang="en-ID" sz="14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576AE-E41E-4BB5-976E-D8C1D9A85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29469" y="2076246"/>
            <a:ext cx="307522" cy="307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A536188-3662-4D40-AF5E-2DE5C2961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48975" y="2989641"/>
            <a:ext cx="307522" cy="3075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C98D75-29C6-438B-A591-E986BE223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48975" y="3952764"/>
            <a:ext cx="307522" cy="3075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43AF06-8925-47BE-8CD4-95D9ADF6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239348">
            <a:off x="2926263" y="3407494"/>
            <a:ext cx="307522" cy="3075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A1AFFC-CA13-4CC3-964F-86E71AF7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138" y="2459136"/>
            <a:ext cx="1058241" cy="5305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5ED4E1-B3C9-4690-B80E-AB9A0515C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2" y="2451428"/>
            <a:ext cx="1058241" cy="5305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4465D47-BB39-4ABF-A509-5BD9115A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286" y="2444039"/>
            <a:ext cx="1058241" cy="53050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8E3F0F1-506A-407D-8654-C3CB4A7F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860" y="2451427"/>
            <a:ext cx="1058241" cy="53050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1F5F129-E3CA-49E8-A338-CDFB876C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767" y="2444038"/>
            <a:ext cx="1058241" cy="5305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36AED5C-0722-471F-BB47-54FE92218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439" y="3000278"/>
            <a:ext cx="1058241" cy="53050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F959A19-D1DF-49B3-BEFF-3D9DEF0A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27" y="2997116"/>
            <a:ext cx="1058241" cy="530505"/>
          </a:xfrm>
          <a:prstGeom prst="rect">
            <a:avLst/>
          </a:prstGeom>
        </p:spPr>
      </p:pic>
      <p:sp>
        <p:nvSpPr>
          <p:cNvPr id="39" name="Google Shape;1149;p103">
            <a:extLst>
              <a:ext uri="{FF2B5EF4-FFF2-40B4-BE49-F238E27FC236}">
                <a16:creationId xmlns:a16="http://schemas.microsoft.com/office/drawing/2014/main" id="{0F2733A7-57F6-4A02-8B89-A5735AD21CA8}"/>
              </a:ext>
            </a:extLst>
          </p:cNvPr>
          <p:cNvSpPr txBox="1">
            <a:spLocks/>
          </p:cNvSpPr>
          <p:nvPr/>
        </p:nvSpPr>
        <p:spPr>
          <a:xfrm>
            <a:off x="3288137" y="2484359"/>
            <a:ext cx="105824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Pengumpulan</a:t>
            </a:r>
            <a:r>
              <a:rPr lang="en-US" sz="900" b="0" dirty="0"/>
              <a:t> </a:t>
            </a:r>
            <a:r>
              <a:rPr lang="en-US" sz="900" b="0" dirty="0" err="1"/>
              <a:t>Kebutuhan</a:t>
            </a:r>
            <a:endParaRPr lang="en-ID" sz="900" b="0" dirty="0"/>
          </a:p>
        </p:txBody>
      </p:sp>
      <p:sp>
        <p:nvSpPr>
          <p:cNvPr id="40" name="Google Shape;1149;p103">
            <a:extLst>
              <a:ext uri="{FF2B5EF4-FFF2-40B4-BE49-F238E27FC236}">
                <a16:creationId xmlns:a16="http://schemas.microsoft.com/office/drawing/2014/main" id="{2944506E-D520-481D-847C-AD19EF406302}"/>
              </a:ext>
            </a:extLst>
          </p:cNvPr>
          <p:cNvSpPr txBox="1">
            <a:spLocks/>
          </p:cNvSpPr>
          <p:nvPr/>
        </p:nvSpPr>
        <p:spPr>
          <a:xfrm>
            <a:off x="4417152" y="2484359"/>
            <a:ext cx="105824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Membangun</a:t>
            </a:r>
            <a:r>
              <a:rPr lang="en-US" sz="900" b="0" dirty="0"/>
              <a:t> Prototype</a:t>
            </a:r>
            <a:endParaRPr lang="en-ID" sz="900" b="0" dirty="0"/>
          </a:p>
        </p:txBody>
      </p:sp>
      <p:sp>
        <p:nvSpPr>
          <p:cNvPr id="41" name="Google Shape;1149;p103">
            <a:extLst>
              <a:ext uri="{FF2B5EF4-FFF2-40B4-BE49-F238E27FC236}">
                <a16:creationId xmlns:a16="http://schemas.microsoft.com/office/drawing/2014/main" id="{56E34311-D11F-49AE-BBFC-9BEA11C48751}"/>
              </a:ext>
            </a:extLst>
          </p:cNvPr>
          <p:cNvSpPr txBox="1">
            <a:spLocks/>
          </p:cNvSpPr>
          <p:nvPr/>
        </p:nvSpPr>
        <p:spPr>
          <a:xfrm>
            <a:off x="5558726" y="2476607"/>
            <a:ext cx="105824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Evaluasi</a:t>
            </a:r>
            <a:r>
              <a:rPr lang="en-US" sz="900" b="0" dirty="0"/>
              <a:t> Prototype</a:t>
            </a:r>
            <a:endParaRPr lang="en-ID" sz="900" b="0" dirty="0"/>
          </a:p>
        </p:txBody>
      </p:sp>
      <p:sp>
        <p:nvSpPr>
          <p:cNvPr id="42" name="Google Shape;1149;p103">
            <a:extLst>
              <a:ext uri="{FF2B5EF4-FFF2-40B4-BE49-F238E27FC236}">
                <a16:creationId xmlns:a16="http://schemas.microsoft.com/office/drawing/2014/main" id="{45397EA0-79E8-41E9-8E93-9066B2E15C77}"/>
              </a:ext>
            </a:extLst>
          </p:cNvPr>
          <p:cNvSpPr txBox="1">
            <a:spLocks/>
          </p:cNvSpPr>
          <p:nvPr/>
        </p:nvSpPr>
        <p:spPr>
          <a:xfrm>
            <a:off x="6700300" y="2468855"/>
            <a:ext cx="105824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Mengkodekan</a:t>
            </a:r>
            <a:r>
              <a:rPr lang="en-US" sz="900" b="0" dirty="0"/>
              <a:t> </a:t>
            </a:r>
            <a:r>
              <a:rPr lang="en-US" sz="900" b="0" dirty="0" err="1"/>
              <a:t>Sistem</a:t>
            </a:r>
            <a:endParaRPr lang="en-ID" sz="900" b="0" dirty="0"/>
          </a:p>
        </p:txBody>
      </p:sp>
      <p:sp>
        <p:nvSpPr>
          <p:cNvPr id="43" name="Google Shape;1149;p103">
            <a:extLst>
              <a:ext uri="{FF2B5EF4-FFF2-40B4-BE49-F238E27FC236}">
                <a16:creationId xmlns:a16="http://schemas.microsoft.com/office/drawing/2014/main" id="{2F598EFA-5AF2-4F67-9AB2-36ABADAB41BA}"/>
              </a:ext>
            </a:extLst>
          </p:cNvPr>
          <p:cNvSpPr txBox="1">
            <a:spLocks/>
          </p:cNvSpPr>
          <p:nvPr/>
        </p:nvSpPr>
        <p:spPr>
          <a:xfrm>
            <a:off x="7937767" y="2530807"/>
            <a:ext cx="1058242" cy="37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Evaluasi</a:t>
            </a:r>
            <a:r>
              <a:rPr lang="en-US" sz="900" b="0" dirty="0"/>
              <a:t> </a:t>
            </a:r>
            <a:r>
              <a:rPr lang="en-US" sz="900" b="0" dirty="0" err="1"/>
              <a:t>Sistem</a:t>
            </a:r>
            <a:endParaRPr lang="en-ID" sz="900" b="0" dirty="0"/>
          </a:p>
        </p:txBody>
      </p:sp>
      <p:sp>
        <p:nvSpPr>
          <p:cNvPr id="44" name="Google Shape;1149;p103">
            <a:extLst>
              <a:ext uri="{FF2B5EF4-FFF2-40B4-BE49-F238E27FC236}">
                <a16:creationId xmlns:a16="http://schemas.microsoft.com/office/drawing/2014/main" id="{3A6D3ECE-3DD9-4B43-AA9F-7581A3C17BE7}"/>
              </a:ext>
            </a:extLst>
          </p:cNvPr>
          <p:cNvSpPr txBox="1">
            <a:spLocks/>
          </p:cNvSpPr>
          <p:nvPr/>
        </p:nvSpPr>
        <p:spPr>
          <a:xfrm>
            <a:off x="7936927" y="3012238"/>
            <a:ext cx="1058242" cy="36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Penggunaan</a:t>
            </a:r>
            <a:r>
              <a:rPr lang="en-US" sz="900" b="0" dirty="0"/>
              <a:t> </a:t>
            </a:r>
            <a:r>
              <a:rPr lang="en-US" sz="900" b="0" dirty="0" err="1"/>
              <a:t>Sistem</a:t>
            </a:r>
            <a:endParaRPr lang="en-ID" sz="900" b="0" dirty="0"/>
          </a:p>
        </p:txBody>
      </p:sp>
      <p:sp>
        <p:nvSpPr>
          <p:cNvPr id="45" name="Google Shape;1149;p103">
            <a:extLst>
              <a:ext uri="{FF2B5EF4-FFF2-40B4-BE49-F238E27FC236}">
                <a16:creationId xmlns:a16="http://schemas.microsoft.com/office/drawing/2014/main" id="{85BE0128-0D20-468A-9D93-330669198A8E}"/>
              </a:ext>
            </a:extLst>
          </p:cNvPr>
          <p:cNvSpPr txBox="1">
            <a:spLocks/>
          </p:cNvSpPr>
          <p:nvPr/>
        </p:nvSpPr>
        <p:spPr>
          <a:xfrm>
            <a:off x="6682354" y="3105005"/>
            <a:ext cx="1058242" cy="36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None/>
              <a:defRPr sz="1800" b="1" i="0" u="none" strike="noStrike" cap="none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pPr algn="ctr"/>
            <a:r>
              <a:rPr lang="en-US" sz="900" b="0" dirty="0" err="1"/>
              <a:t>Menguji</a:t>
            </a:r>
            <a:r>
              <a:rPr lang="en-US" sz="900" b="0" dirty="0"/>
              <a:t> </a:t>
            </a:r>
            <a:r>
              <a:rPr lang="en-US" sz="900" b="0" dirty="0" err="1"/>
              <a:t>Sistem</a:t>
            </a:r>
            <a:endParaRPr lang="en-ID" sz="900" b="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A091FCA-5291-4C8C-AF97-80058AFB3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166" y="1737939"/>
            <a:ext cx="1416083" cy="103684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123818C-4507-4378-8341-815FA6A68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3865869" y="2571750"/>
            <a:ext cx="2328869" cy="136504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0AAFEE2-E364-44C3-B1DE-5208390F1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3650" y="2633444"/>
            <a:ext cx="166469" cy="1664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56224A1-AFC4-4E56-822B-6C1F68E4A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6385" y="2611870"/>
            <a:ext cx="166469" cy="1664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725FD1F-C31C-4445-A20C-95142AC7B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120" y="2590296"/>
            <a:ext cx="166469" cy="16646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680C953-8B59-49C2-A73E-C42F30A6D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596717">
            <a:off x="7765302" y="2924392"/>
            <a:ext cx="166469" cy="16646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981E672-AF5B-47F2-A7D0-1651FB233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82812" y="2902551"/>
            <a:ext cx="166469" cy="16646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087E35D-4362-48BF-A80E-F2ABAA81C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133931" y="2939488"/>
            <a:ext cx="166469" cy="1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81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0;p76">
            <a:extLst>
              <a:ext uri="{FF2B5EF4-FFF2-40B4-BE49-F238E27FC236}">
                <a16:creationId xmlns:a16="http://schemas.microsoft.com/office/drawing/2014/main" id="{BBF776CF-2E20-4E04-9903-7B64ECB49AEF}"/>
              </a:ext>
            </a:extLst>
          </p:cNvPr>
          <p:cNvSpPr txBox="1">
            <a:spLocks/>
          </p:cNvSpPr>
          <p:nvPr/>
        </p:nvSpPr>
        <p:spPr>
          <a:xfrm>
            <a:off x="0" y="2158229"/>
            <a:ext cx="9144000" cy="1780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D" sz="5400" dirty="0">
                <a:solidFill>
                  <a:schemeClr val="lt1"/>
                </a:solidFill>
              </a:rPr>
              <a:t>THANK YOU</a:t>
            </a:r>
            <a:endParaRPr lang="en-ID" sz="5400" dirty="0"/>
          </a:p>
        </p:txBody>
      </p:sp>
      <p:sp>
        <p:nvSpPr>
          <p:cNvPr id="5" name="Google Shape;458;p68">
            <a:extLst>
              <a:ext uri="{FF2B5EF4-FFF2-40B4-BE49-F238E27FC236}">
                <a16:creationId xmlns:a16="http://schemas.microsoft.com/office/drawing/2014/main" id="{C12B5FB4-D7AE-45DF-B6A2-16B7946DCFA9}"/>
              </a:ext>
            </a:extLst>
          </p:cNvPr>
          <p:cNvSpPr/>
          <p:nvPr/>
        </p:nvSpPr>
        <p:spPr>
          <a:xfrm flipH="1">
            <a:off x="6291794" y="731800"/>
            <a:ext cx="2316600" cy="2316600"/>
          </a:xfrm>
          <a:prstGeom prst="ellipse">
            <a:avLst/>
          </a:prstGeom>
          <a:gradFill>
            <a:gsLst>
              <a:gs pos="0">
                <a:srgbClr val="C95EFF"/>
              </a:gs>
              <a:gs pos="38000">
                <a:srgbClr val="BF62FF">
                  <a:alpha val="54117"/>
                </a:srgbClr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33;p68">
            <a:extLst>
              <a:ext uri="{FF2B5EF4-FFF2-40B4-BE49-F238E27FC236}">
                <a16:creationId xmlns:a16="http://schemas.microsoft.com/office/drawing/2014/main" id="{7D94D652-7425-41F1-BDFE-DECB077A8BD8}"/>
              </a:ext>
            </a:extLst>
          </p:cNvPr>
          <p:cNvSpPr/>
          <p:nvPr/>
        </p:nvSpPr>
        <p:spPr>
          <a:xfrm>
            <a:off x="-1784696" y="919480"/>
            <a:ext cx="7169496" cy="5877284"/>
          </a:xfrm>
          <a:prstGeom prst="ellipse">
            <a:avLst/>
          </a:prstGeom>
          <a:gradFill>
            <a:gsLst>
              <a:gs pos="0">
                <a:srgbClr val="1EFFB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Toolkit by Slidesgo">
  <a:themeElements>
    <a:clrScheme name="Simple Light">
      <a:dk1>
        <a:srgbClr val="212121"/>
      </a:dk1>
      <a:lt1>
        <a:srgbClr val="C95EFF"/>
      </a:lt1>
      <a:dk2>
        <a:srgbClr val="00FF9C"/>
      </a:dk2>
      <a:lt2>
        <a:srgbClr val="FFFFFF"/>
      </a:lt2>
      <a:accent1>
        <a:srgbClr val="9E9E9E"/>
      </a:accent1>
      <a:accent2>
        <a:srgbClr val="5F5F5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1471</Words>
  <Application>Microsoft Office PowerPoint</Application>
  <PresentationFormat>On-screen Show (16:9)</PresentationFormat>
  <Paragraphs>146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Fira Sans Extra Condensed Medium</vt:lpstr>
      <vt:lpstr>Proxima Nova</vt:lpstr>
      <vt:lpstr>Wingdings</vt:lpstr>
      <vt:lpstr>Open Sans</vt:lpstr>
      <vt:lpstr>Bebas Neue</vt:lpstr>
      <vt:lpstr>Inconsolata</vt:lpstr>
      <vt:lpstr>Technology Consulting Toolkit by Slidesgo</vt:lpstr>
      <vt:lpstr>Slidesgo Final Pages</vt:lpstr>
      <vt:lpstr>RANCANG BANGUN E-LEARNING UNTUK REHABILITASI NAPZA BERBASIS WEBSITE DENGAN METODE PROTOTYPE</vt:lpstr>
      <vt:lpstr>Metodologi Penelitian</vt:lpstr>
      <vt:lpstr>Pendahuluan</vt:lpstr>
      <vt:lpstr>Pendahuluan</vt:lpstr>
      <vt:lpstr>Pendahuluan</vt:lpstr>
      <vt:lpstr>Pendahuluan</vt:lpstr>
      <vt:lpstr>Pendahuluan</vt:lpstr>
      <vt:lpstr>Pendahuluan</vt:lpstr>
      <vt:lpstr>Pendahuluan</vt:lpstr>
      <vt:lpstr>Merancang dan membangun sistem informasi e-learning berbasis web pada SMK Daarut Taufiq Tangerang (2018)</vt:lpstr>
      <vt:lpstr>Dasar Teori</vt:lpstr>
      <vt:lpstr>Dasar Teori</vt:lpstr>
      <vt:lpstr>Subjek dan Objek Penelitian</vt:lpstr>
      <vt:lpstr>Subjek dan Objek Penelitian</vt:lpstr>
      <vt:lpstr>Alat dan Bahan Penelitian</vt:lpstr>
      <vt:lpstr>Alat dan Bahan Penelitian</vt:lpstr>
      <vt:lpstr>Diagram Alir Penelitian</vt:lpstr>
      <vt:lpstr>Subjek dan Objek Penelitian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RETRIBUTION INFORMATION SYSTEM IN PASAR WAGE BASED ON WEB</dc:title>
  <dc:creator>Lenovo</dc:creator>
  <cp:lastModifiedBy>Mario Baron</cp:lastModifiedBy>
  <cp:revision>107</cp:revision>
  <dcterms:modified xsi:type="dcterms:W3CDTF">2022-01-24T05:42:00Z</dcterms:modified>
</cp:coreProperties>
</file>